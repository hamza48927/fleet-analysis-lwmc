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F2D"/>
          </a:solidFill>
          <a:ln>
            <a:solidFill>
              <a:srgbClr val="0D1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914400"/>
            <a:ext cx="5212080" cy="292608"/>
          </a:xfrm>
          <a:prstGeom prst="rect">
            <a:avLst/>
          </a:prstGeom>
          <a:noFill/>
        </p:spPr>
        <p:txBody>
          <a:bodyPr wrap="square" lIns="27432" rIns="27432" tIns="27432" bIns="27432" anchor="t">
            <a:spAutoFit/>
          </a:bodyPr>
          <a:lstStyle/>
          <a:p>
            <a:pPr algn="l">
              <a:spcAft>
                <a:spcPts val="0"/>
              </a:spcAft>
            </a:pPr>
            <a:r>
              <a:rPr sz="1200" b="1">
                <a:solidFill>
                  <a:srgbClr val="85E0B5"/>
                </a:solidFill>
                <a:latin typeface="Aptos"/>
              </a:rPr>
              <a:t>LWMC OPERATIONS</a:t>
            </a:r>
          </a:p>
        </p:txBody>
      </p:sp>
      <p:sp>
        <p:nvSpPr>
          <p:cNvPr id="5" name="TextBox 4"/>
          <p:cNvSpPr txBox="1"/>
          <p:nvPr/>
        </p:nvSpPr>
        <p:spPr>
          <a:xfrm>
            <a:off x="777240" y="1417320"/>
            <a:ext cx="8046720" cy="1143000"/>
          </a:xfrm>
          <a:prstGeom prst="rect">
            <a:avLst/>
          </a:prstGeom>
          <a:noFill/>
        </p:spPr>
        <p:txBody>
          <a:bodyPr wrap="square" lIns="27432" rIns="27432" tIns="27432" bIns="27432" anchor="t">
            <a:spAutoFit/>
          </a:bodyPr>
          <a:lstStyle/>
          <a:p>
            <a:pPr algn="l">
              <a:spcAft>
                <a:spcPts val="0"/>
              </a:spcAft>
            </a:pPr>
            <a:r>
              <a:rPr sz="4200" b="1">
                <a:solidFill>
                  <a:srgbClr val="FFFFFF"/>
                </a:solidFill>
                <a:latin typeface="Aptos Display"/>
              </a:rPr>
              <a:t>Fleet Dashboard</a:t>
            </a:r>
          </a:p>
        </p:txBody>
      </p:sp>
      <p:sp>
        <p:nvSpPr>
          <p:cNvPr id="6" name="TextBox 5"/>
          <p:cNvSpPr txBox="1"/>
          <p:nvPr/>
        </p:nvSpPr>
        <p:spPr>
          <a:xfrm>
            <a:off x="822960" y="2697480"/>
            <a:ext cx="6949440" cy="749808"/>
          </a:xfrm>
          <a:prstGeom prst="rect">
            <a:avLst/>
          </a:prstGeom>
          <a:noFill/>
        </p:spPr>
        <p:txBody>
          <a:bodyPr wrap="square" lIns="27432" rIns="27432" tIns="27432" bIns="27432" anchor="t">
            <a:spAutoFit/>
          </a:bodyPr>
          <a:lstStyle/>
          <a:p>
            <a:pPr algn="l">
              <a:spcAft>
                <a:spcPts val="0"/>
              </a:spcAft>
            </a:pPr>
            <a:r>
              <a:rPr sz="2100" b="0">
                <a:solidFill>
                  <a:srgbClr val="D3E3DC"/>
                </a:solidFill>
                <a:latin typeface="Aptos"/>
              </a:rPr>
              <a:t>A practical guide to the live map, fleet table and reporting workflow.</a:t>
            </a:r>
          </a:p>
        </p:txBody>
      </p:sp>
      <p:sp>
        <p:nvSpPr>
          <p:cNvPr id="7" name="Rounded Rectangle 6"/>
          <p:cNvSpPr/>
          <p:nvPr/>
        </p:nvSpPr>
        <p:spPr>
          <a:xfrm>
            <a:off x="822960" y="4892040"/>
            <a:ext cx="2926080" cy="566928"/>
          </a:xfrm>
          <a:prstGeom prst="roundRect">
            <a:avLst>
              <a:gd name="adj" fmla="val 8000"/>
            </a:avLst>
          </a:prstGeom>
          <a:solidFill>
            <a:srgbClr val="0C5D43"/>
          </a:solidFill>
          <a:ln>
            <a:solidFill>
              <a:srgbClr val="0C5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047488"/>
            <a:ext cx="2468880" cy="228600"/>
          </a:xfrm>
          <a:prstGeom prst="rect">
            <a:avLst/>
          </a:prstGeom>
          <a:noFill/>
        </p:spPr>
        <p:txBody>
          <a:bodyPr wrap="square" lIns="27432" rIns="27432" tIns="27432" bIns="27432" anchor="t">
            <a:spAutoFit/>
          </a:bodyPr>
          <a:lstStyle/>
          <a:p>
            <a:pPr algn="l">
              <a:spcAft>
                <a:spcPts val="0"/>
              </a:spcAft>
            </a:pPr>
            <a:r>
              <a:rPr sz="1200" b="1">
                <a:solidFill>
                  <a:srgbClr val="FFFFFF"/>
                </a:solidFill>
                <a:latin typeface="Aptos"/>
              </a:rPr>
              <a:t>Operator training | Lahore</a:t>
            </a:r>
          </a:p>
        </p:txBody>
      </p:sp>
      <p:sp>
        <p:nvSpPr>
          <p:cNvPr id="9" name="Rounded Rectangle 8"/>
          <p:cNvSpPr/>
          <p:nvPr/>
        </p:nvSpPr>
        <p:spPr>
          <a:xfrm>
            <a:off x="8595360" y="1005840"/>
            <a:ext cx="2560320" cy="1097280"/>
          </a:xfrm>
          <a:prstGeom prst="roundRect">
            <a:avLst>
              <a:gd name="adj" fmla="val 8000"/>
            </a:avLst>
          </a:prstGeom>
          <a:solidFill>
            <a:srgbClr val="0C5D43"/>
          </a:solidFill>
          <a:ln>
            <a:solidFill>
              <a:srgbClr val="0C5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0" y="2423160"/>
            <a:ext cx="3291840" cy="502920"/>
          </a:xfrm>
          <a:prstGeom prst="roundRect">
            <a:avLst>
              <a:gd name="adj" fmla="val 8000"/>
            </a:avLst>
          </a:prstGeom>
          <a:solidFill>
            <a:srgbClr val="E1F3EB"/>
          </a:solidFill>
          <a:ln>
            <a:solidFill>
              <a:srgbClr val="E1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58200" y="3200400"/>
            <a:ext cx="2697480" cy="1508760"/>
          </a:xfrm>
          <a:prstGeom prst="roundRect">
            <a:avLst>
              <a:gd name="adj" fmla="val 8000"/>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26679" y="5074920"/>
            <a:ext cx="3383280" cy="274320"/>
          </a:xfrm>
          <a:prstGeom prst="roundRect">
            <a:avLst>
              <a:gd name="adj" fmla="val 8000"/>
            </a:avLst>
          </a:prstGeom>
          <a:solidFill>
            <a:srgbClr val="E2972F"/>
          </a:solidFill>
          <a:ln>
            <a:solidFill>
              <a:srgbClr val="E297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236208"/>
            <a:ext cx="5943600" cy="182880"/>
          </a:xfrm>
          <a:prstGeom prst="rect">
            <a:avLst/>
          </a:prstGeom>
          <a:noFill/>
        </p:spPr>
        <p:txBody>
          <a:bodyPr wrap="square" lIns="27432" rIns="27432" tIns="27432" bIns="27432" anchor="t">
            <a:spAutoFit/>
          </a:bodyPr>
          <a:lstStyle/>
          <a:p>
            <a:pPr algn="l">
              <a:spcAft>
                <a:spcPts val="0"/>
              </a:spcAft>
            </a:pPr>
            <a:r>
              <a:rPr sz="1000" b="0">
                <a:solidFill>
                  <a:srgbClr val="A5BCB3"/>
                </a:solidFill>
                <a:latin typeface="Aptos"/>
              </a:rPr>
              <a:t>Use this deck as a handover guide for daily operations.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PURPOSE</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One operating picture for the fleet</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02</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27632"/>
            <a:ext cx="5852160" cy="640080"/>
          </a:xfrm>
          <a:prstGeom prst="rect">
            <a:avLst/>
          </a:prstGeom>
          <a:noFill/>
        </p:spPr>
        <p:txBody>
          <a:bodyPr wrap="square" lIns="27432" rIns="27432" tIns="27432" bIns="27432" anchor="t">
            <a:spAutoFit/>
          </a:bodyPr>
          <a:lstStyle/>
          <a:p>
            <a:pPr algn="l">
              <a:spcAft>
                <a:spcPts val="0"/>
              </a:spcAft>
            </a:pPr>
            <a:r>
              <a:rPr sz="1800" b="0">
                <a:solidFill>
                  <a:srgbClr val="1B2B34"/>
                </a:solidFill>
                <a:latin typeface="Aptos"/>
              </a:rPr>
              <a:t>The app joins today's live VTMS snapshot with the fleet registry, Lahore boundaries, staff roster and historical tracks.</a:t>
            </a:r>
          </a:p>
        </p:txBody>
      </p:sp>
      <p:sp>
        <p:nvSpPr>
          <p:cNvPr id="8" name="Rounded Rectangle 7"/>
          <p:cNvSpPr/>
          <p:nvPr/>
        </p:nvSpPr>
        <p:spPr>
          <a:xfrm>
            <a:off x="640080" y="2743200"/>
            <a:ext cx="3383280" cy="219456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743200"/>
            <a:ext cx="73152" cy="2194560"/>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944368"/>
            <a:ext cx="297180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LIVE MAP</a:t>
            </a:r>
          </a:p>
        </p:txBody>
      </p:sp>
      <p:sp>
        <p:nvSpPr>
          <p:cNvPr id="11" name="TextBox 10"/>
          <p:cNvSpPr txBox="1"/>
          <p:nvPr/>
        </p:nvSpPr>
        <p:spPr>
          <a:xfrm>
            <a:off x="877824" y="3401568"/>
            <a:ext cx="2971800" cy="138988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See moving and still vehicles, town boundaries, route history and operational KPIs in one view.</a:t>
            </a:r>
          </a:p>
        </p:txBody>
      </p:sp>
      <p:sp>
        <p:nvSpPr>
          <p:cNvPr id="12" name="Rounded Rectangle 11"/>
          <p:cNvSpPr/>
          <p:nvPr/>
        </p:nvSpPr>
        <p:spPr>
          <a:xfrm>
            <a:off x="4407408" y="2743200"/>
            <a:ext cx="3383280" cy="219456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2743200"/>
            <a:ext cx="73152" cy="2194560"/>
          </a:xfrm>
          <a:prstGeom prst="rect">
            <a:avLst/>
          </a:prstGeom>
          <a:solidFill>
            <a:srgbClr val="E2972F"/>
          </a:solidFill>
          <a:ln>
            <a:solidFill>
              <a:srgbClr val="E297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2944368"/>
            <a:ext cx="297180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FLEET TABLE</a:t>
            </a:r>
          </a:p>
        </p:txBody>
      </p:sp>
      <p:sp>
        <p:nvSpPr>
          <p:cNvPr id="15" name="TextBox 14"/>
          <p:cNvSpPr txBox="1"/>
          <p:nvPr/>
        </p:nvSpPr>
        <p:spPr>
          <a:xfrm>
            <a:off x="4645152" y="3401568"/>
            <a:ext cx="2971800" cy="138988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Filter every registered or live vehicle by status, type, town, zone, UC and assigned staff.</a:t>
            </a:r>
          </a:p>
        </p:txBody>
      </p:sp>
      <p:sp>
        <p:nvSpPr>
          <p:cNvPr id="16" name="Rounded Rectangle 15"/>
          <p:cNvSpPr/>
          <p:nvPr/>
        </p:nvSpPr>
        <p:spPr>
          <a:xfrm>
            <a:off x="8174736" y="2743200"/>
            <a:ext cx="3383280" cy="219456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74736" y="2743200"/>
            <a:ext cx="73152" cy="2194560"/>
          </a:xfrm>
          <a:prstGeom prst="rect">
            <a:avLst/>
          </a:prstGeom>
          <a:solidFill>
            <a:srgbClr val="0C5D43"/>
          </a:solidFill>
          <a:ln>
            <a:solidFill>
              <a:srgbClr val="0C5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944368"/>
            <a:ext cx="297180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REPORTS</a:t>
            </a:r>
          </a:p>
        </p:txBody>
      </p:sp>
      <p:sp>
        <p:nvSpPr>
          <p:cNvPr id="19" name="TextBox 18"/>
          <p:cNvSpPr txBox="1"/>
          <p:nvPr/>
        </p:nvSpPr>
        <p:spPr>
          <a:xfrm>
            <a:off x="8412480" y="3401568"/>
            <a:ext cx="2971800" cy="138988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Generate registry, TM, FM or combined workbooks into the reports folder.</a:t>
            </a:r>
          </a:p>
        </p:txBody>
      </p:sp>
      <p:sp>
        <p:nvSpPr>
          <p:cNvPr id="20" name="Rectangle 19"/>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22" name="TextBox 21"/>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LAUNCH</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Open the application from the packaged folder</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03</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9344"/>
            <a:ext cx="10698480" cy="457200"/>
          </a:xfrm>
          <a:prstGeom prst="rect">
            <a:avLst/>
          </a:prstGeom>
          <a:noFill/>
        </p:spPr>
        <p:txBody>
          <a:bodyPr wrap="square" lIns="27432" rIns="27432" tIns="27432" bIns="27432" anchor="t">
            <a:spAutoFit/>
          </a:bodyPr>
          <a:lstStyle/>
          <a:p>
            <a:pPr algn="l">
              <a:spcAft>
                <a:spcPts val="0"/>
              </a:spcAft>
            </a:pPr>
            <a:r>
              <a:rPr sz="1600" b="0">
                <a:solidFill>
                  <a:srgbClr val="5C6F78"/>
                </a:solidFill>
                <a:latin typeface="Aptos"/>
              </a:rPr>
              <a:t>Keep the executable and its _internal folder together. Launch the executable from the same folder every day.</a:t>
            </a:r>
          </a:p>
        </p:txBody>
      </p:sp>
      <p:sp>
        <p:nvSpPr>
          <p:cNvPr id="8" name="Rounded Rectangle 7"/>
          <p:cNvSpPr/>
          <p:nvPr/>
        </p:nvSpPr>
        <p:spPr>
          <a:xfrm>
            <a:off x="777240" y="2468880"/>
            <a:ext cx="3337560" cy="233172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468880"/>
            <a:ext cx="73152" cy="2331720"/>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670048"/>
            <a:ext cx="2926079"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1  LOCATE</a:t>
            </a:r>
          </a:p>
        </p:txBody>
      </p:sp>
      <p:sp>
        <p:nvSpPr>
          <p:cNvPr id="11" name="TextBox 10"/>
          <p:cNvSpPr txBox="1"/>
          <p:nvPr/>
        </p:nvSpPr>
        <p:spPr>
          <a:xfrm>
            <a:off x="1014983" y="3127248"/>
            <a:ext cx="2926079" cy="152704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Open the folder containing LWMC_Fleet_Dashboard.exe and _internal.</a:t>
            </a:r>
          </a:p>
        </p:txBody>
      </p:sp>
      <p:sp>
        <p:nvSpPr>
          <p:cNvPr id="12" name="Rounded Rectangle 11"/>
          <p:cNvSpPr/>
          <p:nvPr/>
        </p:nvSpPr>
        <p:spPr>
          <a:xfrm>
            <a:off x="4434840" y="2468880"/>
            <a:ext cx="3337560" cy="233172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2468880"/>
            <a:ext cx="73152" cy="2331720"/>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72583" y="2670048"/>
            <a:ext cx="2926079"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2  LAUNCH</a:t>
            </a:r>
          </a:p>
        </p:txBody>
      </p:sp>
      <p:sp>
        <p:nvSpPr>
          <p:cNvPr id="15" name="TextBox 14"/>
          <p:cNvSpPr txBox="1"/>
          <p:nvPr/>
        </p:nvSpPr>
        <p:spPr>
          <a:xfrm>
            <a:off x="4672583" y="3127248"/>
            <a:ext cx="2926079" cy="152704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Double-click the executable. The app opens with Map &amp; Analytics selected.</a:t>
            </a:r>
          </a:p>
        </p:txBody>
      </p:sp>
      <p:sp>
        <p:nvSpPr>
          <p:cNvPr id="16" name="Rounded Rectangle 15"/>
          <p:cNvSpPr/>
          <p:nvPr/>
        </p:nvSpPr>
        <p:spPr>
          <a:xfrm>
            <a:off x="8092440" y="2468880"/>
            <a:ext cx="3337560" cy="233172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2468880"/>
            <a:ext cx="73152" cy="2331720"/>
          </a:xfrm>
          <a:prstGeom prst="rect">
            <a:avLst/>
          </a:prstGeom>
          <a:solidFill>
            <a:srgbClr val="E2972F"/>
          </a:solidFill>
          <a:ln>
            <a:solidFill>
              <a:srgbClr val="E297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0183" y="2670048"/>
            <a:ext cx="2926079"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3  CONFIRM</a:t>
            </a:r>
          </a:p>
        </p:txBody>
      </p:sp>
      <p:sp>
        <p:nvSpPr>
          <p:cNvPr id="19" name="TextBox 18"/>
          <p:cNvSpPr txBox="1"/>
          <p:nvPr/>
        </p:nvSpPr>
        <p:spPr>
          <a:xfrm>
            <a:off x="8330183" y="3127248"/>
            <a:ext cx="2926079" cy="152704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Check the source status strip and snapshot date before using the dashboard.</a:t>
            </a:r>
          </a:p>
        </p:txBody>
      </p:sp>
      <p:sp>
        <p:nvSpPr>
          <p:cNvPr id="20" name="Rounded Rectangle 19"/>
          <p:cNvSpPr/>
          <p:nvPr/>
        </p:nvSpPr>
        <p:spPr>
          <a:xfrm>
            <a:off x="777240" y="5257800"/>
            <a:ext cx="10652760" cy="640080"/>
          </a:xfrm>
          <a:prstGeom prst="roundRect">
            <a:avLst>
              <a:gd name="adj" fmla="val 8000"/>
            </a:avLst>
          </a:prstGeom>
          <a:solidFill>
            <a:srgbClr val="E1F3EB"/>
          </a:solidFill>
          <a:ln>
            <a:solidFill>
              <a:srgbClr val="E1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5449824"/>
            <a:ext cx="10149840" cy="228600"/>
          </a:xfrm>
          <a:prstGeom prst="rect">
            <a:avLst/>
          </a:prstGeom>
          <a:noFill/>
        </p:spPr>
        <p:txBody>
          <a:bodyPr wrap="square" lIns="27432" rIns="27432" tIns="27432" bIns="27432" anchor="t">
            <a:spAutoFit/>
          </a:bodyPr>
          <a:lstStyle/>
          <a:p>
            <a:pPr algn="l">
              <a:spcAft>
                <a:spcPts val="0"/>
              </a:spcAft>
            </a:pPr>
            <a:r>
              <a:rPr sz="1300" b="1">
                <a:solidFill>
                  <a:srgbClr val="0C5D43"/>
                </a:solidFill>
                <a:latin typeface="Aptos"/>
              </a:rPr>
              <a:t>Expected on first launch: a few reference files may be written next to the executable. This is normal.</a:t>
            </a:r>
          </a:p>
        </p:txBody>
      </p:sp>
      <p:sp>
        <p:nvSpPr>
          <p:cNvPr id="22" name="Rectangle 21"/>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24" name="TextBox 23"/>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START HERE</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The app is already configured</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04</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865376"/>
            <a:ext cx="91440" cy="9144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1783080"/>
            <a:ext cx="5285232" cy="292608"/>
          </a:xfrm>
          <a:prstGeom prst="rect">
            <a:avLst/>
          </a:prstGeom>
          <a:noFill/>
        </p:spPr>
        <p:txBody>
          <a:bodyPr wrap="square" lIns="27432" rIns="27432" tIns="27432" bIns="27432" anchor="t">
            <a:spAutoFit/>
          </a:bodyPr>
          <a:lstStyle/>
          <a:p>
            <a:pPr algn="l">
              <a:spcAft>
                <a:spcPts val="0"/>
              </a:spcAft>
            </a:pPr>
            <a:r>
              <a:rPr sz="1600" b="0">
                <a:solidFill>
                  <a:srgbClr val="1B2B34"/>
                </a:solidFill>
                <a:latin typeface="Aptos"/>
              </a:rPr>
              <a:t>The Lahore map, fleet registry and zone data are built into the app.</a:t>
            </a:r>
          </a:p>
        </p:txBody>
      </p:sp>
      <p:sp>
        <p:nvSpPr>
          <p:cNvPr id="9" name="Oval 8"/>
          <p:cNvSpPr/>
          <p:nvPr/>
        </p:nvSpPr>
        <p:spPr>
          <a:xfrm>
            <a:off x="822960" y="2560320"/>
            <a:ext cx="91440" cy="9144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478024"/>
            <a:ext cx="5285232" cy="292608"/>
          </a:xfrm>
          <a:prstGeom prst="rect">
            <a:avLst/>
          </a:prstGeom>
          <a:noFill/>
        </p:spPr>
        <p:txBody>
          <a:bodyPr wrap="square" lIns="27432" rIns="27432" tIns="27432" bIns="27432" anchor="t">
            <a:spAutoFit/>
          </a:bodyPr>
          <a:lstStyle/>
          <a:p>
            <a:pPr algn="l">
              <a:spcAft>
                <a:spcPts val="0"/>
              </a:spcAft>
            </a:pPr>
            <a:r>
              <a:rPr sz="1600" b="0">
                <a:solidFill>
                  <a:srgbClr val="1B2B34"/>
                </a:solidFill>
                <a:latin typeface="Aptos"/>
              </a:rPr>
              <a:t>There is no setup wizard on a fresh copy.</a:t>
            </a:r>
          </a:p>
        </p:txBody>
      </p:sp>
      <p:sp>
        <p:nvSpPr>
          <p:cNvPr id="11" name="Oval 10"/>
          <p:cNvSpPr/>
          <p:nvPr/>
        </p:nvSpPr>
        <p:spPr>
          <a:xfrm>
            <a:off x="822960" y="3255263"/>
            <a:ext cx="91440" cy="9144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172968"/>
            <a:ext cx="5285232" cy="292608"/>
          </a:xfrm>
          <a:prstGeom prst="rect">
            <a:avLst/>
          </a:prstGeom>
          <a:noFill/>
        </p:spPr>
        <p:txBody>
          <a:bodyPr wrap="square" lIns="27432" rIns="27432" tIns="27432" bIns="27432" anchor="t">
            <a:spAutoFit/>
          </a:bodyPr>
          <a:lstStyle/>
          <a:p>
            <a:pPr algn="l">
              <a:spcAft>
                <a:spcPts val="0"/>
              </a:spcAft>
            </a:pPr>
            <a:r>
              <a:rPr sz="1600" b="0">
                <a:solidFill>
                  <a:srgbClr val="1B2B34"/>
                </a:solidFill>
                <a:latin typeface="Aptos"/>
              </a:rPr>
              <a:t>The app detects the most recently modified matching source file.</a:t>
            </a:r>
          </a:p>
        </p:txBody>
      </p:sp>
      <p:sp>
        <p:nvSpPr>
          <p:cNvPr id="13" name="Oval 12"/>
          <p:cNvSpPr/>
          <p:nvPr/>
        </p:nvSpPr>
        <p:spPr>
          <a:xfrm>
            <a:off x="822960" y="3950208"/>
            <a:ext cx="91440" cy="9144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867912"/>
            <a:ext cx="5285232" cy="292608"/>
          </a:xfrm>
          <a:prstGeom prst="rect">
            <a:avLst/>
          </a:prstGeom>
          <a:noFill/>
        </p:spPr>
        <p:txBody>
          <a:bodyPr wrap="square" lIns="27432" rIns="27432" tIns="27432" bIns="27432" anchor="t">
            <a:spAutoFit/>
          </a:bodyPr>
          <a:lstStyle/>
          <a:p>
            <a:pPr algn="l">
              <a:spcAft>
                <a:spcPts val="0"/>
              </a:spcAft>
            </a:pPr>
            <a:r>
              <a:rPr sz="1600" b="0">
                <a:solidFill>
                  <a:srgbClr val="1B2B34"/>
                </a:solidFill>
                <a:latin typeface="Aptos"/>
              </a:rPr>
              <a:t>Reference files are created beside the executable, never inside _internal.</a:t>
            </a:r>
          </a:p>
        </p:txBody>
      </p:sp>
      <p:sp>
        <p:nvSpPr>
          <p:cNvPr id="15" name="Rounded Rectangle 14"/>
          <p:cNvSpPr/>
          <p:nvPr/>
        </p:nvSpPr>
        <p:spPr>
          <a:xfrm>
            <a:off x="7315200" y="1828800"/>
            <a:ext cx="3840480" cy="3200400"/>
          </a:xfrm>
          <a:prstGeom prst="roundRect">
            <a:avLst>
              <a:gd name="adj" fmla="val 8000"/>
            </a:avLst>
          </a:prstGeom>
          <a:solidFill>
            <a:srgbClr val="0D1F2D"/>
          </a:solidFill>
          <a:ln>
            <a:solidFill>
              <a:srgbClr val="0D1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2212848"/>
            <a:ext cx="3017520" cy="274320"/>
          </a:xfrm>
          <a:prstGeom prst="rect">
            <a:avLst/>
          </a:prstGeom>
          <a:noFill/>
        </p:spPr>
        <p:txBody>
          <a:bodyPr wrap="square" lIns="27432" rIns="27432" tIns="27432" bIns="27432" anchor="t">
            <a:spAutoFit/>
          </a:bodyPr>
          <a:lstStyle/>
          <a:p>
            <a:pPr algn="l">
              <a:spcAft>
                <a:spcPts val="0"/>
              </a:spcAft>
            </a:pPr>
            <a:r>
              <a:rPr sz="1100" b="1">
                <a:solidFill>
                  <a:srgbClr val="85E0B5"/>
                </a:solidFill>
                <a:latin typeface="Aptos"/>
              </a:rPr>
              <a:t>CHECK BEFORE WORK</a:t>
            </a:r>
          </a:p>
        </p:txBody>
      </p:sp>
      <p:sp>
        <p:nvSpPr>
          <p:cNvPr id="17" name="TextBox 16"/>
          <p:cNvSpPr txBox="1"/>
          <p:nvPr/>
        </p:nvSpPr>
        <p:spPr>
          <a:xfrm>
            <a:off x="7680960" y="2697480"/>
            <a:ext cx="2926080" cy="1280160"/>
          </a:xfrm>
          <a:prstGeom prst="rect">
            <a:avLst/>
          </a:prstGeom>
          <a:noFill/>
        </p:spPr>
        <p:txBody>
          <a:bodyPr wrap="square" lIns="27432" rIns="27432" tIns="27432" bIns="27432" anchor="t">
            <a:spAutoFit/>
          </a:bodyPr>
          <a:lstStyle/>
          <a:p>
            <a:pPr algn="l">
              <a:spcAft>
                <a:spcPts val="0"/>
              </a:spcAft>
            </a:pPr>
            <a:r>
              <a:rPr sz="2100" b="1">
                <a:solidFill>
                  <a:srgbClr val="FFFFFF"/>
                </a:solidFill>
                <a:latin typeface="Aptos"/>
              </a:rPr>
              <a:t>Snapshot date
Source status
Vehicle count
Map loaded</a:t>
            </a:r>
          </a:p>
        </p:txBody>
      </p:sp>
      <p:sp>
        <p:nvSpPr>
          <p:cNvPr id="18" name="TextBox 17"/>
          <p:cNvSpPr txBox="1"/>
          <p:nvPr/>
        </p:nvSpPr>
        <p:spPr>
          <a:xfrm>
            <a:off x="7680960" y="4315968"/>
            <a:ext cx="2926080" cy="347472"/>
          </a:xfrm>
          <a:prstGeom prst="rect">
            <a:avLst/>
          </a:prstGeom>
          <a:noFill/>
        </p:spPr>
        <p:txBody>
          <a:bodyPr wrap="square" lIns="27432" rIns="27432" tIns="27432" bIns="27432" anchor="t">
            <a:spAutoFit/>
          </a:bodyPr>
          <a:lstStyle/>
          <a:p>
            <a:pPr algn="l">
              <a:spcAft>
                <a:spcPts val="0"/>
              </a:spcAft>
            </a:pPr>
            <a:r>
              <a:rPr sz="1150" b="0">
                <a:solidFill>
                  <a:srgbClr val="D3E3DC"/>
                </a:solidFill>
                <a:latin typeface="Aptos"/>
              </a:rPr>
              <a:t>These four signals tell you whether today's data is active.</a:t>
            </a:r>
          </a:p>
        </p:txBody>
      </p:sp>
      <p:sp>
        <p:nvSpPr>
          <p:cNvPr id="19" name="Rectangle 18"/>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21" name="TextBox 20"/>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DAILY ROUTINE</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Drop today's exports, then launch</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05</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72768"/>
            <a:ext cx="10789920" cy="438912"/>
          </a:xfrm>
          <a:prstGeom prst="rect">
            <a:avLst/>
          </a:prstGeom>
          <a:noFill/>
        </p:spPr>
        <p:txBody>
          <a:bodyPr wrap="square" lIns="27432" rIns="27432" tIns="27432" bIns="27432" anchor="t">
            <a:spAutoFit/>
          </a:bodyPr>
          <a:lstStyle/>
          <a:p>
            <a:pPr algn="l">
              <a:spcAft>
                <a:spcPts val="0"/>
              </a:spcAft>
            </a:pPr>
            <a:r>
              <a:rPr sz="1500" b="0">
                <a:solidFill>
                  <a:srgbClr val="5C6F78"/>
                </a:solidFill>
                <a:latin typeface="Aptos"/>
              </a:rPr>
              <a:t>Place live source files next to the executable before opening the app. Filename patterns drive auto-detection.</a:t>
            </a:r>
          </a:p>
        </p:txBody>
      </p:sp>
      <p:sp>
        <p:nvSpPr>
          <p:cNvPr id="8" name="Rectangle 7"/>
          <p:cNvSpPr/>
          <p:nvPr/>
        </p:nvSpPr>
        <p:spPr>
          <a:xfrm>
            <a:off x="640080" y="2331720"/>
            <a:ext cx="2743200" cy="502920"/>
          </a:xfrm>
          <a:prstGeom prst="rect">
            <a:avLst/>
          </a:prstGeom>
          <a:solidFill>
            <a:srgbClr val="0D1F2D"/>
          </a:solidFill>
          <a:ln>
            <a:solidFill>
              <a:srgbClr val="0D1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459736"/>
            <a:ext cx="2468880" cy="228600"/>
          </a:xfrm>
          <a:prstGeom prst="rect">
            <a:avLst/>
          </a:prstGeom>
          <a:noFill/>
        </p:spPr>
        <p:txBody>
          <a:bodyPr wrap="square" lIns="27432" rIns="27432" tIns="27432" bIns="27432" anchor="t">
            <a:spAutoFit/>
          </a:bodyPr>
          <a:lstStyle/>
          <a:p>
            <a:pPr algn="l">
              <a:spcAft>
                <a:spcPts val="0"/>
              </a:spcAft>
            </a:pPr>
            <a:r>
              <a:rPr sz="1150" b="1">
                <a:solidFill>
                  <a:srgbClr val="FFFFFF"/>
                </a:solidFill>
                <a:latin typeface="Aptos"/>
              </a:rPr>
              <a:t>Data source</a:t>
            </a:r>
          </a:p>
        </p:txBody>
      </p:sp>
      <p:sp>
        <p:nvSpPr>
          <p:cNvPr id="10" name="Rectangle 9"/>
          <p:cNvSpPr/>
          <p:nvPr/>
        </p:nvSpPr>
        <p:spPr>
          <a:xfrm>
            <a:off x="3383280" y="2331720"/>
            <a:ext cx="4023360" cy="502920"/>
          </a:xfrm>
          <a:prstGeom prst="rect">
            <a:avLst/>
          </a:prstGeom>
          <a:solidFill>
            <a:srgbClr val="0D1F2D"/>
          </a:solidFill>
          <a:ln>
            <a:solidFill>
              <a:srgbClr val="0D1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9584" y="2459736"/>
            <a:ext cx="3749040" cy="228600"/>
          </a:xfrm>
          <a:prstGeom prst="rect">
            <a:avLst/>
          </a:prstGeom>
          <a:noFill/>
        </p:spPr>
        <p:txBody>
          <a:bodyPr wrap="square" lIns="27432" rIns="27432" tIns="27432" bIns="27432" anchor="t">
            <a:spAutoFit/>
          </a:bodyPr>
          <a:lstStyle/>
          <a:p>
            <a:pPr algn="l">
              <a:spcAft>
                <a:spcPts val="0"/>
              </a:spcAft>
            </a:pPr>
            <a:r>
              <a:rPr sz="1150" b="1">
                <a:solidFill>
                  <a:srgbClr val="FFFFFF"/>
                </a:solidFill>
                <a:latin typeface="Aptos"/>
              </a:rPr>
              <a:t>Recognized filename</a:t>
            </a:r>
          </a:p>
        </p:txBody>
      </p:sp>
      <p:sp>
        <p:nvSpPr>
          <p:cNvPr id="12" name="Rectangle 11"/>
          <p:cNvSpPr/>
          <p:nvPr/>
        </p:nvSpPr>
        <p:spPr>
          <a:xfrm>
            <a:off x="7406640" y="2331720"/>
            <a:ext cx="4142232" cy="502920"/>
          </a:xfrm>
          <a:prstGeom prst="rect">
            <a:avLst/>
          </a:prstGeom>
          <a:solidFill>
            <a:srgbClr val="0D1F2D"/>
          </a:solidFill>
          <a:ln>
            <a:solidFill>
              <a:srgbClr val="0D1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52944" y="2459736"/>
            <a:ext cx="3867912" cy="228600"/>
          </a:xfrm>
          <a:prstGeom prst="rect">
            <a:avLst/>
          </a:prstGeom>
          <a:noFill/>
        </p:spPr>
        <p:txBody>
          <a:bodyPr wrap="square" lIns="27432" rIns="27432" tIns="27432" bIns="27432" anchor="t">
            <a:spAutoFit/>
          </a:bodyPr>
          <a:lstStyle/>
          <a:p>
            <a:pPr algn="l">
              <a:spcAft>
                <a:spcPts val="0"/>
              </a:spcAft>
            </a:pPr>
            <a:r>
              <a:rPr sz="1150" b="1">
                <a:solidFill>
                  <a:srgbClr val="FFFFFF"/>
                </a:solidFill>
                <a:latin typeface="Aptos"/>
              </a:rPr>
              <a:t>Used for</a:t>
            </a:r>
          </a:p>
        </p:txBody>
      </p:sp>
      <p:sp>
        <p:nvSpPr>
          <p:cNvPr id="14" name="Rectangle 13"/>
          <p:cNvSpPr/>
          <p:nvPr/>
        </p:nvSpPr>
        <p:spPr>
          <a:xfrm>
            <a:off x="640080" y="2834639"/>
            <a:ext cx="2743200"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2999232"/>
            <a:ext cx="2468880" cy="228600"/>
          </a:xfrm>
          <a:prstGeom prst="rect">
            <a:avLst/>
          </a:prstGeom>
          <a:noFill/>
        </p:spPr>
        <p:txBody>
          <a:bodyPr wrap="square" lIns="27432" rIns="27432" tIns="27432" bIns="27432" anchor="t">
            <a:spAutoFit/>
          </a:bodyPr>
          <a:lstStyle/>
          <a:p>
            <a:pPr algn="l">
              <a:spcAft>
                <a:spcPts val="0"/>
              </a:spcAft>
            </a:pPr>
            <a:r>
              <a:rPr sz="1100" b="1">
                <a:solidFill>
                  <a:srgbClr val="1B2B34"/>
                </a:solidFill>
                <a:latin typeface="Aptos"/>
              </a:rPr>
              <a:t>VTMS active logs</a:t>
            </a:r>
          </a:p>
        </p:txBody>
      </p:sp>
      <p:sp>
        <p:nvSpPr>
          <p:cNvPr id="16" name="Rectangle 15"/>
          <p:cNvSpPr/>
          <p:nvPr/>
        </p:nvSpPr>
        <p:spPr>
          <a:xfrm>
            <a:off x="3383280" y="2834639"/>
            <a:ext cx="4023360"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2999232"/>
            <a:ext cx="3749040"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export-vtms-active-logs-*.csv</a:t>
            </a:r>
          </a:p>
        </p:txBody>
      </p:sp>
      <p:sp>
        <p:nvSpPr>
          <p:cNvPr id="18" name="Rectangle 17"/>
          <p:cNvSpPr/>
          <p:nvPr/>
        </p:nvSpPr>
        <p:spPr>
          <a:xfrm>
            <a:off x="7406640" y="2834639"/>
            <a:ext cx="4142232"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52944" y="2999232"/>
            <a:ext cx="3867912"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Live position and movement</a:t>
            </a:r>
          </a:p>
        </p:txBody>
      </p:sp>
      <p:sp>
        <p:nvSpPr>
          <p:cNvPr id="20" name="Rectangle 19"/>
          <p:cNvSpPr/>
          <p:nvPr/>
        </p:nvSpPr>
        <p:spPr>
          <a:xfrm>
            <a:off x="640080" y="3410711"/>
            <a:ext cx="2743200" cy="576072"/>
          </a:xfrm>
          <a:prstGeom prst="rect">
            <a:avLst/>
          </a:prstGeom>
          <a:solidFill>
            <a:srgbClr val="EFF5F2"/>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3575303"/>
            <a:ext cx="2468880" cy="228600"/>
          </a:xfrm>
          <a:prstGeom prst="rect">
            <a:avLst/>
          </a:prstGeom>
          <a:noFill/>
        </p:spPr>
        <p:txBody>
          <a:bodyPr wrap="square" lIns="27432" rIns="27432" tIns="27432" bIns="27432" anchor="t">
            <a:spAutoFit/>
          </a:bodyPr>
          <a:lstStyle/>
          <a:p>
            <a:pPr algn="l">
              <a:spcAft>
                <a:spcPts val="0"/>
              </a:spcAft>
            </a:pPr>
            <a:r>
              <a:rPr sz="1100" b="1">
                <a:solidFill>
                  <a:srgbClr val="1B2B34"/>
                </a:solidFill>
                <a:latin typeface="Aptos"/>
              </a:rPr>
              <a:t>Vehicle status</a:t>
            </a:r>
          </a:p>
        </p:txBody>
      </p:sp>
      <p:sp>
        <p:nvSpPr>
          <p:cNvPr id="22" name="Rectangle 21"/>
          <p:cNvSpPr/>
          <p:nvPr/>
        </p:nvSpPr>
        <p:spPr>
          <a:xfrm>
            <a:off x="3383280" y="3410711"/>
            <a:ext cx="4023360" cy="576072"/>
          </a:xfrm>
          <a:prstGeom prst="rect">
            <a:avLst/>
          </a:prstGeom>
          <a:solidFill>
            <a:srgbClr val="EFF5F2"/>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9584" y="3575303"/>
            <a:ext cx="3749040"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vs.xlsx or Vehicle_Status_*.xlsx</a:t>
            </a:r>
          </a:p>
        </p:txBody>
      </p:sp>
      <p:sp>
        <p:nvSpPr>
          <p:cNvPr id="24" name="Rectangle 23"/>
          <p:cNvSpPr/>
          <p:nvPr/>
        </p:nvSpPr>
        <p:spPr>
          <a:xfrm>
            <a:off x="7406640" y="3410711"/>
            <a:ext cx="4142232" cy="576072"/>
          </a:xfrm>
          <a:prstGeom prst="rect">
            <a:avLst/>
          </a:prstGeom>
          <a:solidFill>
            <a:srgbClr val="EFF5F2"/>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52944" y="3575303"/>
            <a:ext cx="3867912"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Battery and reporting fields</a:t>
            </a:r>
          </a:p>
        </p:txBody>
      </p:sp>
      <p:sp>
        <p:nvSpPr>
          <p:cNvPr id="26" name="Rectangle 25"/>
          <p:cNvSpPr/>
          <p:nvPr/>
        </p:nvSpPr>
        <p:spPr>
          <a:xfrm>
            <a:off x="640080" y="3986783"/>
            <a:ext cx="2743200"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151375"/>
            <a:ext cx="2468880" cy="228600"/>
          </a:xfrm>
          <a:prstGeom prst="rect">
            <a:avLst/>
          </a:prstGeom>
          <a:noFill/>
        </p:spPr>
        <p:txBody>
          <a:bodyPr wrap="square" lIns="27432" rIns="27432" tIns="27432" bIns="27432" anchor="t">
            <a:spAutoFit/>
          </a:bodyPr>
          <a:lstStyle/>
          <a:p>
            <a:pPr algn="l">
              <a:spcAft>
                <a:spcPts val="0"/>
              </a:spcAft>
            </a:pPr>
            <a:r>
              <a:rPr sz="1100" b="1">
                <a:solidFill>
                  <a:srgbClr val="1B2B34"/>
                </a:solidFill>
                <a:latin typeface="Aptos"/>
              </a:rPr>
              <a:t>Employee roster</a:t>
            </a:r>
          </a:p>
        </p:txBody>
      </p:sp>
      <p:sp>
        <p:nvSpPr>
          <p:cNvPr id="28" name="Rectangle 27"/>
          <p:cNvSpPr/>
          <p:nvPr/>
        </p:nvSpPr>
        <p:spPr>
          <a:xfrm>
            <a:off x="3383280" y="3986783"/>
            <a:ext cx="4023360"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9584" y="4151375"/>
            <a:ext cx="3749040"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employee*data*.xlsx</a:t>
            </a:r>
          </a:p>
        </p:txBody>
      </p:sp>
      <p:sp>
        <p:nvSpPr>
          <p:cNvPr id="30" name="Rectangle 29"/>
          <p:cNvSpPr/>
          <p:nvPr/>
        </p:nvSpPr>
        <p:spPr>
          <a:xfrm>
            <a:off x="7406640" y="3986783"/>
            <a:ext cx="4142232"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52944" y="4151375"/>
            <a:ext cx="3867912"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TM / FM / ZO coverage</a:t>
            </a:r>
          </a:p>
        </p:txBody>
      </p:sp>
      <p:sp>
        <p:nvSpPr>
          <p:cNvPr id="32" name="Rectangle 31"/>
          <p:cNvSpPr/>
          <p:nvPr/>
        </p:nvSpPr>
        <p:spPr>
          <a:xfrm>
            <a:off x="640080" y="4562856"/>
            <a:ext cx="2743200" cy="576072"/>
          </a:xfrm>
          <a:prstGeom prst="rect">
            <a:avLst/>
          </a:prstGeom>
          <a:solidFill>
            <a:srgbClr val="EFF5F2"/>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4727448"/>
            <a:ext cx="2468880" cy="228600"/>
          </a:xfrm>
          <a:prstGeom prst="rect">
            <a:avLst/>
          </a:prstGeom>
          <a:noFill/>
        </p:spPr>
        <p:txBody>
          <a:bodyPr wrap="square" lIns="27432" rIns="27432" tIns="27432" bIns="27432" anchor="t">
            <a:spAutoFit/>
          </a:bodyPr>
          <a:lstStyle/>
          <a:p>
            <a:pPr algn="l">
              <a:spcAft>
                <a:spcPts val="0"/>
              </a:spcAft>
            </a:pPr>
            <a:r>
              <a:rPr sz="1100" b="1">
                <a:solidFill>
                  <a:srgbClr val="1B2B34"/>
                </a:solidFill>
                <a:latin typeface="Aptos"/>
              </a:rPr>
              <a:t>Vehicle history</a:t>
            </a:r>
          </a:p>
        </p:txBody>
      </p:sp>
      <p:sp>
        <p:nvSpPr>
          <p:cNvPr id="34" name="Rectangle 33"/>
          <p:cNvSpPr/>
          <p:nvPr/>
        </p:nvSpPr>
        <p:spPr>
          <a:xfrm>
            <a:off x="3383280" y="4562856"/>
            <a:ext cx="4023360" cy="576072"/>
          </a:xfrm>
          <a:prstGeom prst="rect">
            <a:avLst/>
          </a:prstGeom>
          <a:solidFill>
            <a:srgbClr val="EFF5F2"/>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29584" y="4727448"/>
            <a:ext cx="3749040"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activity_*.csv</a:t>
            </a:r>
          </a:p>
        </p:txBody>
      </p:sp>
      <p:sp>
        <p:nvSpPr>
          <p:cNvPr id="36" name="Rectangle 35"/>
          <p:cNvSpPr/>
          <p:nvPr/>
        </p:nvSpPr>
        <p:spPr>
          <a:xfrm>
            <a:off x="7406640" y="4562856"/>
            <a:ext cx="4142232" cy="576072"/>
          </a:xfrm>
          <a:prstGeom prst="rect">
            <a:avLst/>
          </a:prstGeom>
          <a:solidFill>
            <a:srgbClr val="EFF5F2"/>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52944" y="4727448"/>
            <a:ext cx="3867912"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Recent route tracks</a:t>
            </a:r>
          </a:p>
        </p:txBody>
      </p:sp>
      <p:sp>
        <p:nvSpPr>
          <p:cNvPr id="38" name="Rectangle 37"/>
          <p:cNvSpPr/>
          <p:nvPr/>
        </p:nvSpPr>
        <p:spPr>
          <a:xfrm>
            <a:off x="640080" y="5138927"/>
            <a:ext cx="2743200"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303519"/>
            <a:ext cx="2468880" cy="228600"/>
          </a:xfrm>
          <a:prstGeom prst="rect">
            <a:avLst/>
          </a:prstGeom>
          <a:noFill/>
        </p:spPr>
        <p:txBody>
          <a:bodyPr wrap="square" lIns="27432" rIns="27432" tIns="27432" bIns="27432" anchor="t">
            <a:spAutoFit/>
          </a:bodyPr>
          <a:lstStyle/>
          <a:p>
            <a:pPr algn="l">
              <a:spcAft>
                <a:spcPts val="0"/>
              </a:spcAft>
            </a:pPr>
            <a:r>
              <a:rPr sz="1100" b="1">
                <a:solidFill>
                  <a:srgbClr val="1B2B34"/>
                </a:solidFill>
                <a:latin typeface="Aptos"/>
              </a:rPr>
              <a:t>Trip reports</a:t>
            </a:r>
          </a:p>
        </p:txBody>
      </p:sp>
      <p:sp>
        <p:nvSpPr>
          <p:cNvPr id="40" name="Rectangle 39"/>
          <p:cNvSpPr/>
          <p:nvPr/>
        </p:nvSpPr>
        <p:spPr>
          <a:xfrm>
            <a:off x="3383280" y="5138927"/>
            <a:ext cx="4023360"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29584" y="5303519"/>
            <a:ext cx="3749040"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New folder/*.xlsx</a:t>
            </a:r>
          </a:p>
        </p:txBody>
      </p:sp>
      <p:sp>
        <p:nvSpPr>
          <p:cNvPr id="42" name="Rectangle 41"/>
          <p:cNvSpPr/>
          <p:nvPr/>
        </p:nvSpPr>
        <p:spPr>
          <a:xfrm>
            <a:off x="7406640" y="5138927"/>
            <a:ext cx="4142232" cy="576072"/>
          </a:xfrm>
          <a:prstGeom prst="rect">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52944" y="5303519"/>
            <a:ext cx="3867912" cy="228600"/>
          </a:xfrm>
          <a:prstGeom prst="rect">
            <a:avLst/>
          </a:prstGeom>
          <a:noFill/>
        </p:spPr>
        <p:txBody>
          <a:bodyPr wrap="square" lIns="27432" rIns="27432" tIns="27432" bIns="27432" anchor="t">
            <a:spAutoFit/>
          </a:bodyPr>
          <a:lstStyle/>
          <a:p>
            <a:pPr algn="l">
              <a:spcAft>
                <a:spcPts val="0"/>
              </a:spcAft>
            </a:pPr>
            <a:r>
              <a:rPr sz="1100" b="0">
                <a:solidFill>
                  <a:srgbClr val="5C6F78"/>
                </a:solidFill>
                <a:latin typeface="Aptos"/>
              </a:rPr>
              <a:t>TM / FM performance</a:t>
            </a:r>
          </a:p>
        </p:txBody>
      </p:sp>
      <p:sp>
        <p:nvSpPr>
          <p:cNvPr id="44" name="TextBox 43"/>
          <p:cNvSpPr txBox="1"/>
          <p:nvPr/>
        </p:nvSpPr>
        <p:spPr>
          <a:xfrm>
            <a:off x="640080" y="5897880"/>
            <a:ext cx="10789920" cy="274320"/>
          </a:xfrm>
          <a:prstGeom prst="rect">
            <a:avLst/>
          </a:prstGeom>
          <a:noFill/>
        </p:spPr>
        <p:txBody>
          <a:bodyPr wrap="square" lIns="27432" rIns="27432" tIns="27432" bIns="27432" anchor="t">
            <a:spAutoFit/>
          </a:bodyPr>
          <a:lstStyle/>
          <a:p>
            <a:pPr algn="l">
              <a:spcAft>
                <a:spcPts val="0"/>
              </a:spcAft>
            </a:pPr>
            <a:r>
              <a:rPr sz="1150" b="0">
                <a:solidFill>
                  <a:srgbClr val="5C6F78"/>
                </a:solidFill>
                <a:latin typeface="Aptos"/>
              </a:rPr>
              <a:t>The most recently modified matching file is selected. Keep old exports in a separate archive folder to avoid ambiguity.</a:t>
            </a:r>
          </a:p>
        </p:txBody>
      </p:sp>
      <p:sp>
        <p:nvSpPr>
          <p:cNvPr id="45" name="Rectangle 44"/>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47" name="TextBox 46"/>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WORKFLOW</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From export to an operational decision</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06</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09928" y="2788920"/>
            <a:ext cx="1234440" cy="36576"/>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2331720"/>
            <a:ext cx="822960" cy="82296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532888"/>
            <a:ext cx="822960" cy="228600"/>
          </a:xfrm>
          <a:prstGeom prst="rect">
            <a:avLst/>
          </a:prstGeom>
          <a:noFill/>
        </p:spPr>
        <p:txBody>
          <a:bodyPr wrap="square" lIns="27432" rIns="27432" tIns="27432" bIns="27432" anchor="t">
            <a:spAutoFit/>
          </a:bodyPr>
          <a:lstStyle/>
          <a:p>
            <a:pPr algn="ctr">
              <a:spcAft>
                <a:spcPts val="0"/>
              </a:spcAft>
            </a:pPr>
            <a:r>
              <a:rPr sz="1800" b="1">
                <a:solidFill>
                  <a:srgbClr val="FFFFFF"/>
                </a:solidFill>
                <a:latin typeface="Aptos"/>
              </a:rPr>
              <a:t>1</a:t>
            </a:r>
          </a:p>
        </p:txBody>
      </p:sp>
      <p:sp>
        <p:nvSpPr>
          <p:cNvPr id="10" name="TextBox 9"/>
          <p:cNvSpPr txBox="1"/>
          <p:nvPr/>
        </p:nvSpPr>
        <p:spPr>
          <a:xfrm>
            <a:off x="402335" y="3429000"/>
            <a:ext cx="1325880" cy="274320"/>
          </a:xfrm>
          <a:prstGeom prst="rect">
            <a:avLst/>
          </a:prstGeom>
          <a:noFill/>
        </p:spPr>
        <p:txBody>
          <a:bodyPr wrap="square" lIns="27432" rIns="27432" tIns="27432" bIns="27432" anchor="t">
            <a:spAutoFit/>
          </a:bodyPr>
          <a:lstStyle/>
          <a:p>
            <a:pPr algn="ctr">
              <a:spcAft>
                <a:spcPts val="0"/>
              </a:spcAft>
            </a:pPr>
            <a:r>
              <a:rPr sz="1500" b="1">
                <a:solidFill>
                  <a:srgbClr val="0D1F2D"/>
                </a:solidFill>
                <a:latin typeface="Aptos"/>
              </a:rPr>
              <a:t>Export</a:t>
            </a:r>
          </a:p>
        </p:txBody>
      </p:sp>
      <p:sp>
        <p:nvSpPr>
          <p:cNvPr id="11" name="TextBox 10"/>
          <p:cNvSpPr txBox="1"/>
          <p:nvPr/>
        </p:nvSpPr>
        <p:spPr>
          <a:xfrm>
            <a:off x="274320" y="3886200"/>
            <a:ext cx="1572768" cy="548640"/>
          </a:xfrm>
          <a:prstGeom prst="rect">
            <a:avLst/>
          </a:prstGeom>
          <a:noFill/>
        </p:spPr>
        <p:txBody>
          <a:bodyPr wrap="square" lIns="27432" rIns="27432" tIns="27432" bIns="27432" anchor="t">
            <a:spAutoFit/>
          </a:bodyPr>
          <a:lstStyle/>
          <a:p>
            <a:pPr algn="ctr">
              <a:spcAft>
                <a:spcPts val="0"/>
              </a:spcAft>
            </a:pPr>
            <a:r>
              <a:rPr sz="1150" b="0">
                <a:solidFill>
                  <a:srgbClr val="5C6F78"/>
                </a:solidFill>
                <a:latin typeface="Aptos"/>
              </a:rPr>
              <a:t>Download today's files</a:t>
            </a:r>
          </a:p>
        </p:txBody>
      </p:sp>
      <p:sp>
        <p:nvSpPr>
          <p:cNvPr id="12" name="Rectangle 11"/>
          <p:cNvSpPr/>
          <p:nvPr/>
        </p:nvSpPr>
        <p:spPr>
          <a:xfrm>
            <a:off x="3977639" y="2788920"/>
            <a:ext cx="1234440" cy="36576"/>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26080" y="2331720"/>
            <a:ext cx="822960" cy="82296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2532888"/>
            <a:ext cx="822960" cy="228600"/>
          </a:xfrm>
          <a:prstGeom prst="rect">
            <a:avLst/>
          </a:prstGeom>
          <a:noFill/>
        </p:spPr>
        <p:txBody>
          <a:bodyPr wrap="square" lIns="27432" rIns="27432" tIns="27432" bIns="27432" anchor="t">
            <a:spAutoFit/>
          </a:bodyPr>
          <a:lstStyle/>
          <a:p>
            <a:pPr algn="ctr">
              <a:spcAft>
                <a:spcPts val="0"/>
              </a:spcAft>
            </a:pPr>
            <a:r>
              <a:rPr sz="1800" b="1">
                <a:solidFill>
                  <a:srgbClr val="FFFFFF"/>
                </a:solidFill>
                <a:latin typeface="Aptos"/>
              </a:rPr>
              <a:t>2</a:t>
            </a:r>
          </a:p>
        </p:txBody>
      </p:sp>
      <p:sp>
        <p:nvSpPr>
          <p:cNvPr id="15" name="TextBox 14"/>
          <p:cNvSpPr txBox="1"/>
          <p:nvPr/>
        </p:nvSpPr>
        <p:spPr>
          <a:xfrm>
            <a:off x="2670048" y="3429000"/>
            <a:ext cx="1325880" cy="274320"/>
          </a:xfrm>
          <a:prstGeom prst="rect">
            <a:avLst/>
          </a:prstGeom>
          <a:noFill/>
        </p:spPr>
        <p:txBody>
          <a:bodyPr wrap="square" lIns="27432" rIns="27432" tIns="27432" bIns="27432" anchor="t">
            <a:spAutoFit/>
          </a:bodyPr>
          <a:lstStyle/>
          <a:p>
            <a:pPr algn="ctr">
              <a:spcAft>
                <a:spcPts val="0"/>
              </a:spcAft>
            </a:pPr>
            <a:r>
              <a:rPr sz="1500" b="1">
                <a:solidFill>
                  <a:srgbClr val="0D1F2D"/>
                </a:solidFill>
                <a:latin typeface="Aptos"/>
              </a:rPr>
              <a:t>Drop</a:t>
            </a:r>
          </a:p>
        </p:txBody>
      </p:sp>
      <p:sp>
        <p:nvSpPr>
          <p:cNvPr id="16" name="TextBox 15"/>
          <p:cNvSpPr txBox="1"/>
          <p:nvPr/>
        </p:nvSpPr>
        <p:spPr>
          <a:xfrm>
            <a:off x="2542032" y="3886200"/>
            <a:ext cx="1572768" cy="548640"/>
          </a:xfrm>
          <a:prstGeom prst="rect">
            <a:avLst/>
          </a:prstGeom>
          <a:noFill/>
        </p:spPr>
        <p:txBody>
          <a:bodyPr wrap="square" lIns="27432" rIns="27432" tIns="27432" bIns="27432" anchor="t">
            <a:spAutoFit/>
          </a:bodyPr>
          <a:lstStyle/>
          <a:p>
            <a:pPr algn="ctr">
              <a:spcAft>
                <a:spcPts val="0"/>
              </a:spcAft>
            </a:pPr>
            <a:r>
              <a:rPr sz="1150" b="0">
                <a:solidFill>
                  <a:srgbClr val="5C6F78"/>
                </a:solidFill>
                <a:latin typeface="Aptos"/>
              </a:rPr>
              <a:t>Place them beside the exe</a:t>
            </a:r>
          </a:p>
        </p:txBody>
      </p:sp>
      <p:sp>
        <p:nvSpPr>
          <p:cNvPr id="17" name="Rectangle 16"/>
          <p:cNvSpPr/>
          <p:nvPr/>
        </p:nvSpPr>
        <p:spPr>
          <a:xfrm>
            <a:off x="6245352" y="2788920"/>
            <a:ext cx="1234440" cy="36576"/>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93792" y="2331720"/>
            <a:ext cx="822960" cy="82296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3792" y="2532888"/>
            <a:ext cx="822960" cy="228600"/>
          </a:xfrm>
          <a:prstGeom prst="rect">
            <a:avLst/>
          </a:prstGeom>
          <a:noFill/>
        </p:spPr>
        <p:txBody>
          <a:bodyPr wrap="square" lIns="27432" rIns="27432" tIns="27432" bIns="27432" anchor="t">
            <a:spAutoFit/>
          </a:bodyPr>
          <a:lstStyle/>
          <a:p>
            <a:pPr algn="ctr">
              <a:spcAft>
                <a:spcPts val="0"/>
              </a:spcAft>
            </a:pPr>
            <a:r>
              <a:rPr sz="1800" b="1">
                <a:solidFill>
                  <a:srgbClr val="FFFFFF"/>
                </a:solidFill>
                <a:latin typeface="Aptos"/>
              </a:rPr>
              <a:t>3</a:t>
            </a:r>
          </a:p>
        </p:txBody>
      </p:sp>
      <p:sp>
        <p:nvSpPr>
          <p:cNvPr id="20" name="TextBox 19"/>
          <p:cNvSpPr txBox="1"/>
          <p:nvPr/>
        </p:nvSpPr>
        <p:spPr>
          <a:xfrm>
            <a:off x="4937759" y="3429000"/>
            <a:ext cx="1325880" cy="274320"/>
          </a:xfrm>
          <a:prstGeom prst="rect">
            <a:avLst/>
          </a:prstGeom>
          <a:noFill/>
        </p:spPr>
        <p:txBody>
          <a:bodyPr wrap="square" lIns="27432" rIns="27432" tIns="27432" bIns="27432" anchor="t">
            <a:spAutoFit/>
          </a:bodyPr>
          <a:lstStyle/>
          <a:p>
            <a:pPr algn="ctr">
              <a:spcAft>
                <a:spcPts val="0"/>
              </a:spcAft>
            </a:pPr>
            <a:r>
              <a:rPr sz="1500" b="1">
                <a:solidFill>
                  <a:srgbClr val="0D1F2D"/>
                </a:solidFill>
                <a:latin typeface="Aptos"/>
              </a:rPr>
              <a:t>Launch</a:t>
            </a:r>
          </a:p>
        </p:txBody>
      </p:sp>
      <p:sp>
        <p:nvSpPr>
          <p:cNvPr id="21" name="TextBox 20"/>
          <p:cNvSpPr txBox="1"/>
          <p:nvPr/>
        </p:nvSpPr>
        <p:spPr>
          <a:xfrm>
            <a:off x="4809744" y="3886200"/>
            <a:ext cx="1572768" cy="548640"/>
          </a:xfrm>
          <a:prstGeom prst="rect">
            <a:avLst/>
          </a:prstGeom>
          <a:noFill/>
        </p:spPr>
        <p:txBody>
          <a:bodyPr wrap="square" lIns="27432" rIns="27432" tIns="27432" bIns="27432" anchor="t">
            <a:spAutoFit/>
          </a:bodyPr>
          <a:lstStyle/>
          <a:p>
            <a:pPr algn="ctr">
              <a:spcAft>
                <a:spcPts val="0"/>
              </a:spcAft>
            </a:pPr>
            <a:r>
              <a:rPr sz="1150" b="0">
                <a:solidFill>
                  <a:srgbClr val="5C6F78"/>
                </a:solidFill>
                <a:latin typeface="Aptos"/>
              </a:rPr>
              <a:t>Open the dashboard</a:t>
            </a:r>
          </a:p>
        </p:txBody>
      </p:sp>
      <p:sp>
        <p:nvSpPr>
          <p:cNvPr id="22" name="Rectangle 21"/>
          <p:cNvSpPr/>
          <p:nvPr/>
        </p:nvSpPr>
        <p:spPr>
          <a:xfrm>
            <a:off x="8513064" y="2788920"/>
            <a:ext cx="1234440" cy="36576"/>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61504" y="2331720"/>
            <a:ext cx="822960" cy="82296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61504" y="2532888"/>
            <a:ext cx="822960" cy="228600"/>
          </a:xfrm>
          <a:prstGeom prst="rect">
            <a:avLst/>
          </a:prstGeom>
          <a:noFill/>
        </p:spPr>
        <p:txBody>
          <a:bodyPr wrap="square" lIns="27432" rIns="27432" tIns="27432" bIns="27432" anchor="t">
            <a:spAutoFit/>
          </a:bodyPr>
          <a:lstStyle/>
          <a:p>
            <a:pPr algn="ctr">
              <a:spcAft>
                <a:spcPts val="0"/>
              </a:spcAft>
            </a:pPr>
            <a:r>
              <a:rPr sz="1800" b="1">
                <a:solidFill>
                  <a:srgbClr val="FFFFFF"/>
                </a:solidFill>
                <a:latin typeface="Aptos"/>
              </a:rPr>
              <a:t>4</a:t>
            </a:r>
          </a:p>
        </p:txBody>
      </p:sp>
      <p:sp>
        <p:nvSpPr>
          <p:cNvPr id="25" name="TextBox 24"/>
          <p:cNvSpPr txBox="1"/>
          <p:nvPr/>
        </p:nvSpPr>
        <p:spPr>
          <a:xfrm>
            <a:off x="7205472" y="3429000"/>
            <a:ext cx="1325880" cy="274320"/>
          </a:xfrm>
          <a:prstGeom prst="rect">
            <a:avLst/>
          </a:prstGeom>
          <a:noFill/>
        </p:spPr>
        <p:txBody>
          <a:bodyPr wrap="square" lIns="27432" rIns="27432" tIns="27432" bIns="27432" anchor="t">
            <a:spAutoFit/>
          </a:bodyPr>
          <a:lstStyle/>
          <a:p>
            <a:pPr algn="ctr">
              <a:spcAft>
                <a:spcPts val="0"/>
              </a:spcAft>
            </a:pPr>
            <a:r>
              <a:rPr sz="1500" b="1">
                <a:solidFill>
                  <a:srgbClr val="0D1F2D"/>
                </a:solidFill>
                <a:latin typeface="Aptos"/>
              </a:rPr>
              <a:t>Verify</a:t>
            </a:r>
          </a:p>
        </p:txBody>
      </p:sp>
      <p:sp>
        <p:nvSpPr>
          <p:cNvPr id="26" name="TextBox 25"/>
          <p:cNvSpPr txBox="1"/>
          <p:nvPr/>
        </p:nvSpPr>
        <p:spPr>
          <a:xfrm>
            <a:off x="7077456" y="3886200"/>
            <a:ext cx="1572768" cy="548640"/>
          </a:xfrm>
          <a:prstGeom prst="rect">
            <a:avLst/>
          </a:prstGeom>
          <a:noFill/>
        </p:spPr>
        <p:txBody>
          <a:bodyPr wrap="square" lIns="27432" rIns="27432" tIns="27432" bIns="27432" anchor="t">
            <a:spAutoFit/>
          </a:bodyPr>
          <a:lstStyle/>
          <a:p>
            <a:pPr algn="ctr">
              <a:spcAft>
                <a:spcPts val="0"/>
              </a:spcAft>
            </a:pPr>
            <a:r>
              <a:rPr sz="1150" b="0">
                <a:solidFill>
                  <a:srgbClr val="5C6F78"/>
                </a:solidFill>
                <a:latin typeface="Aptos"/>
              </a:rPr>
              <a:t>Check date and counts</a:t>
            </a:r>
          </a:p>
        </p:txBody>
      </p:sp>
      <p:sp>
        <p:nvSpPr>
          <p:cNvPr id="27" name="Oval 26"/>
          <p:cNvSpPr/>
          <p:nvPr/>
        </p:nvSpPr>
        <p:spPr>
          <a:xfrm>
            <a:off x="9729216" y="2331720"/>
            <a:ext cx="822960" cy="822960"/>
          </a:xfrm>
          <a:prstGeom prst="ellipse">
            <a:avLst/>
          </a:prstGeom>
          <a:solidFill>
            <a:srgbClr val="E2972F"/>
          </a:solidFill>
          <a:ln>
            <a:solidFill>
              <a:srgbClr val="E297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29216" y="2532888"/>
            <a:ext cx="822960" cy="228600"/>
          </a:xfrm>
          <a:prstGeom prst="rect">
            <a:avLst/>
          </a:prstGeom>
          <a:noFill/>
        </p:spPr>
        <p:txBody>
          <a:bodyPr wrap="square" lIns="27432" rIns="27432" tIns="27432" bIns="27432" anchor="t">
            <a:spAutoFit/>
          </a:bodyPr>
          <a:lstStyle/>
          <a:p>
            <a:pPr algn="ctr">
              <a:spcAft>
                <a:spcPts val="0"/>
              </a:spcAft>
            </a:pPr>
            <a:r>
              <a:rPr sz="1800" b="1">
                <a:solidFill>
                  <a:srgbClr val="FFFFFF"/>
                </a:solidFill>
                <a:latin typeface="Aptos"/>
              </a:rPr>
              <a:t>5</a:t>
            </a:r>
          </a:p>
        </p:txBody>
      </p:sp>
      <p:sp>
        <p:nvSpPr>
          <p:cNvPr id="29" name="TextBox 28"/>
          <p:cNvSpPr txBox="1"/>
          <p:nvPr/>
        </p:nvSpPr>
        <p:spPr>
          <a:xfrm>
            <a:off x="9473184" y="3429000"/>
            <a:ext cx="1325880" cy="274320"/>
          </a:xfrm>
          <a:prstGeom prst="rect">
            <a:avLst/>
          </a:prstGeom>
          <a:noFill/>
        </p:spPr>
        <p:txBody>
          <a:bodyPr wrap="square" lIns="27432" rIns="27432" tIns="27432" bIns="27432" anchor="t">
            <a:spAutoFit/>
          </a:bodyPr>
          <a:lstStyle/>
          <a:p>
            <a:pPr algn="ctr">
              <a:spcAft>
                <a:spcPts val="0"/>
              </a:spcAft>
            </a:pPr>
            <a:r>
              <a:rPr sz="1500" b="1">
                <a:solidFill>
                  <a:srgbClr val="0D1F2D"/>
                </a:solidFill>
                <a:latin typeface="Aptos"/>
              </a:rPr>
              <a:t>Use</a:t>
            </a:r>
          </a:p>
        </p:txBody>
      </p:sp>
      <p:sp>
        <p:nvSpPr>
          <p:cNvPr id="30" name="TextBox 29"/>
          <p:cNvSpPr txBox="1"/>
          <p:nvPr/>
        </p:nvSpPr>
        <p:spPr>
          <a:xfrm>
            <a:off x="9345168" y="3886200"/>
            <a:ext cx="1572768" cy="548640"/>
          </a:xfrm>
          <a:prstGeom prst="rect">
            <a:avLst/>
          </a:prstGeom>
          <a:noFill/>
        </p:spPr>
        <p:txBody>
          <a:bodyPr wrap="square" lIns="27432" rIns="27432" tIns="27432" bIns="27432" anchor="t">
            <a:spAutoFit/>
          </a:bodyPr>
          <a:lstStyle/>
          <a:p>
            <a:pPr algn="ctr">
              <a:spcAft>
                <a:spcPts val="0"/>
              </a:spcAft>
            </a:pPr>
            <a:r>
              <a:rPr sz="1150" b="0">
                <a:solidFill>
                  <a:srgbClr val="5C6F78"/>
                </a:solidFill>
                <a:latin typeface="Aptos"/>
              </a:rPr>
              <a:t>Filter, inspect, report</a:t>
            </a:r>
          </a:p>
        </p:txBody>
      </p:sp>
      <p:sp>
        <p:nvSpPr>
          <p:cNvPr id="31" name="Rounded Rectangle 30"/>
          <p:cNvSpPr/>
          <p:nvPr/>
        </p:nvSpPr>
        <p:spPr>
          <a:xfrm>
            <a:off x="1005840" y="5166360"/>
            <a:ext cx="10058400" cy="640080"/>
          </a:xfrm>
          <a:prstGeom prst="roundRect">
            <a:avLst>
              <a:gd name="adj" fmla="val 8000"/>
            </a:avLst>
          </a:prstGeom>
          <a:solidFill>
            <a:srgbClr val="E1F3EB"/>
          </a:solidFill>
          <a:ln>
            <a:solidFill>
              <a:srgbClr val="E1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1872" y="5376672"/>
            <a:ext cx="9601200" cy="219456"/>
          </a:xfrm>
          <a:prstGeom prst="rect">
            <a:avLst/>
          </a:prstGeom>
          <a:noFill/>
        </p:spPr>
        <p:txBody>
          <a:bodyPr wrap="square" lIns="27432" rIns="27432" tIns="27432" bIns="27432" anchor="t">
            <a:spAutoFit/>
          </a:bodyPr>
          <a:lstStyle/>
          <a:p>
            <a:pPr algn="ctr">
              <a:spcAft>
                <a:spcPts val="0"/>
              </a:spcAft>
            </a:pPr>
            <a:r>
              <a:rPr sz="1300" b="1">
                <a:solidFill>
                  <a:srgbClr val="0C5D43"/>
                </a:solidFill>
                <a:latin typeface="Aptos"/>
              </a:rPr>
              <a:t>The app rebuilds the working snapshot at launch. You do not need to import a file from inside the interface.</a:t>
            </a:r>
          </a:p>
        </p:txBody>
      </p:sp>
      <p:sp>
        <p:nvSpPr>
          <p:cNvPr id="33" name="Rectangle 32"/>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35" name="TextBox 34"/>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TAB 1 OF 3</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Map &amp; Analytics</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07</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42900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73152" cy="3429000"/>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1984248"/>
            <a:ext cx="297180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READ THE LIVE PICTURE</a:t>
            </a:r>
          </a:p>
        </p:txBody>
      </p:sp>
      <p:sp>
        <p:nvSpPr>
          <p:cNvPr id="10" name="TextBox 9"/>
          <p:cNvSpPr txBox="1"/>
          <p:nvPr/>
        </p:nvSpPr>
        <p:spPr>
          <a:xfrm>
            <a:off x="969264" y="2441448"/>
            <a:ext cx="2971800" cy="262432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Every vehicle is plotted with moving and still states. Use the map to see where the fleet is concentrated and where it is outside its assigned town.</a:t>
            </a:r>
          </a:p>
        </p:txBody>
      </p:sp>
      <p:sp>
        <p:nvSpPr>
          <p:cNvPr id="11" name="Rounded Rectangle 10"/>
          <p:cNvSpPr/>
          <p:nvPr/>
        </p:nvSpPr>
        <p:spPr>
          <a:xfrm>
            <a:off x="4407408" y="1783080"/>
            <a:ext cx="3383280" cy="342900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783080"/>
            <a:ext cx="73152" cy="3429000"/>
          </a:xfrm>
          <a:prstGeom prst="rect">
            <a:avLst/>
          </a:prstGeom>
          <a:solidFill>
            <a:srgbClr val="E2972F"/>
          </a:solidFill>
          <a:ln>
            <a:solidFill>
              <a:srgbClr val="E297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1984248"/>
            <a:ext cx="297180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USE THE CONTEXT</a:t>
            </a:r>
          </a:p>
        </p:txBody>
      </p:sp>
      <p:sp>
        <p:nvSpPr>
          <p:cNvPr id="14" name="TextBox 13"/>
          <p:cNvSpPr txBox="1"/>
          <p:nvPr/>
        </p:nvSpPr>
        <p:spPr>
          <a:xfrm>
            <a:off x="4645152" y="2441448"/>
            <a:ext cx="2971800" cy="262432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Town and zone boundaries, KPIs and historical tracks help turn a point on the map into an operational explanation.</a:t>
            </a:r>
          </a:p>
        </p:txBody>
      </p:sp>
      <p:sp>
        <p:nvSpPr>
          <p:cNvPr id="15" name="Rounded Rectangle 14"/>
          <p:cNvSpPr/>
          <p:nvPr/>
        </p:nvSpPr>
        <p:spPr>
          <a:xfrm>
            <a:off x="8083296" y="1783080"/>
            <a:ext cx="3383280" cy="342900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1783080"/>
            <a:ext cx="73152" cy="3429000"/>
          </a:xfrm>
          <a:prstGeom prst="rect">
            <a:avLst/>
          </a:prstGeom>
          <a:solidFill>
            <a:srgbClr val="0C5D43"/>
          </a:solidFill>
          <a:ln>
            <a:solidFill>
              <a:srgbClr val="0C5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984248"/>
            <a:ext cx="297180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ASK BETTER QUESTIONS</a:t>
            </a:r>
          </a:p>
        </p:txBody>
      </p:sp>
      <p:sp>
        <p:nvSpPr>
          <p:cNvPr id="18" name="TextBox 17"/>
          <p:cNvSpPr txBox="1"/>
          <p:nvPr/>
        </p:nvSpPr>
        <p:spPr>
          <a:xfrm>
            <a:off x="8321040" y="2441448"/>
            <a:ext cx="2971800" cy="262432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Which vehicles are moving? Which town is under-deployed? Is a vehicle working outside its home area?</a:t>
            </a:r>
          </a:p>
        </p:txBody>
      </p:sp>
      <p:sp>
        <p:nvSpPr>
          <p:cNvPr id="19" name="Rectangle 18"/>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21" name="TextBox 20"/>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TAB 2 OF 3</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Fleet Table</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08</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10789920" cy="457200"/>
          </a:xfrm>
          <a:prstGeom prst="rect">
            <a:avLst/>
          </a:prstGeom>
          <a:noFill/>
        </p:spPr>
        <p:txBody>
          <a:bodyPr wrap="square" lIns="27432" rIns="27432" tIns="27432" bIns="27432" anchor="t">
            <a:spAutoFit/>
          </a:bodyPr>
          <a:lstStyle/>
          <a:p>
            <a:pPr algn="l">
              <a:spcAft>
                <a:spcPts val="0"/>
              </a:spcAft>
            </a:pPr>
            <a:r>
              <a:rPr sz="1600" b="0">
                <a:solidFill>
                  <a:srgbClr val="5C6F78"/>
                </a:solidFill>
                <a:latin typeface="Aptos"/>
              </a:rPr>
              <a:t>Use the table when the question is about a specific vehicle, assignment or exception.</a:t>
            </a:r>
          </a:p>
        </p:txBody>
      </p:sp>
      <p:sp>
        <p:nvSpPr>
          <p:cNvPr id="8" name="Oval 7"/>
          <p:cNvSpPr/>
          <p:nvPr/>
        </p:nvSpPr>
        <p:spPr>
          <a:xfrm>
            <a:off x="822960" y="2505456"/>
            <a:ext cx="91440" cy="9144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423160"/>
            <a:ext cx="5010912" cy="292608"/>
          </a:xfrm>
          <a:prstGeom prst="rect">
            <a:avLst/>
          </a:prstGeom>
          <a:noFill/>
        </p:spPr>
        <p:txBody>
          <a:bodyPr wrap="square" lIns="27432" rIns="27432" tIns="27432" bIns="27432" anchor="t">
            <a:spAutoFit/>
          </a:bodyPr>
          <a:lstStyle/>
          <a:p>
            <a:pPr algn="l">
              <a:spcAft>
                <a:spcPts val="0"/>
              </a:spcAft>
            </a:pPr>
            <a:r>
              <a:rPr sz="1600" b="0">
                <a:solidFill>
                  <a:srgbClr val="1B2B34"/>
                </a:solidFill>
                <a:latin typeface="Aptos"/>
              </a:rPr>
              <a:t>Filter by status, category and town.</a:t>
            </a:r>
          </a:p>
        </p:txBody>
      </p:sp>
      <p:sp>
        <p:nvSpPr>
          <p:cNvPr id="10" name="Oval 9"/>
          <p:cNvSpPr/>
          <p:nvPr/>
        </p:nvSpPr>
        <p:spPr>
          <a:xfrm>
            <a:off x="822960" y="3127248"/>
            <a:ext cx="91440" cy="9144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044952"/>
            <a:ext cx="5010912" cy="292608"/>
          </a:xfrm>
          <a:prstGeom prst="rect">
            <a:avLst/>
          </a:prstGeom>
          <a:noFill/>
        </p:spPr>
        <p:txBody>
          <a:bodyPr wrap="square" lIns="27432" rIns="27432" tIns="27432" bIns="27432" anchor="t">
            <a:spAutoFit/>
          </a:bodyPr>
          <a:lstStyle/>
          <a:p>
            <a:pPr algn="l">
              <a:spcAft>
                <a:spcPts val="0"/>
              </a:spcAft>
            </a:pPr>
            <a:r>
              <a:rPr sz="1600" b="0">
                <a:solidFill>
                  <a:srgbClr val="1B2B34"/>
                </a:solidFill>
                <a:latin typeface="Aptos"/>
              </a:rPr>
              <a:t>Narrow by zone, UC or responsible employee.</a:t>
            </a:r>
          </a:p>
        </p:txBody>
      </p:sp>
      <p:sp>
        <p:nvSpPr>
          <p:cNvPr id="12" name="Oval 11"/>
          <p:cNvSpPr/>
          <p:nvPr/>
        </p:nvSpPr>
        <p:spPr>
          <a:xfrm>
            <a:off x="822960" y="3749039"/>
            <a:ext cx="91440" cy="9144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666744"/>
            <a:ext cx="5010912" cy="292608"/>
          </a:xfrm>
          <a:prstGeom prst="rect">
            <a:avLst/>
          </a:prstGeom>
          <a:noFill/>
        </p:spPr>
        <p:txBody>
          <a:bodyPr wrap="square" lIns="27432" rIns="27432" tIns="27432" bIns="27432" anchor="t">
            <a:spAutoFit/>
          </a:bodyPr>
          <a:lstStyle/>
          <a:p>
            <a:pPr algn="l">
              <a:spcAft>
                <a:spcPts val="0"/>
              </a:spcAft>
            </a:pPr>
            <a:r>
              <a:rPr sz="1600" b="0">
                <a:solidFill>
                  <a:srgbClr val="1B2B34"/>
                </a:solidFill>
                <a:latin typeface="Aptos"/>
              </a:rPr>
              <a:t>Compare live VTMS rows with registered fleet rows.</a:t>
            </a:r>
          </a:p>
        </p:txBody>
      </p:sp>
      <p:sp>
        <p:nvSpPr>
          <p:cNvPr id="14" name="Oval 13"/>
          <p:cNvSpPr/>
          <p:nvPr/>
        </p:nvSpPr>
        <p:spPr>
          <a:xfrm>
            <a:off x="822960" y="4370831"/>
            <a:ext cx="91440" cy="91440"/>
          </a:xfrm>
          <a:prstGeom prst="ellipse">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288536"/>
            <a:ext cx="5010912" cy="292608"/>
          </a:xfrm>
          <a:prstGeom prst="rect">
            <a:avLst/>
          </a:prstGeom>
          <a:noFill/>
        </p:spPr>
        <p:txBody>
          <a:bodyPr wrap="square" lIns="27432" rIns="27432" tIns="27432" bIns="27432" anchor="t">
            <a:spAutoFit/>
          </a:bodyPr>
          <a:lstStyle/>
          <a:p>
            <a:pPr algn="l">
              <a:spcAft>
                <a:spcPts val="0"/>
              </a:spcAft>
            </a:pPr>
            <a:r>
              <a:rPr sz="1600" b="0">
                <a:solidFill>
                  <a:srgbClr val="1B2B34"/>
                </a:solidFill>
                <a:latin typeface="Aptos"/>
              </a:rPr>
              <a:t>Use the summary strip to see how filters change the population.</a:t>
            </a:r>
          </a:p>
        </p:txBody>
      </p:sp>
      <p:sp>
        <p:nvSpPr>
          <p:cNvPr id="16" name="Rounded Rectangle 15"/>
          <p:cNvSpPr/>
          <p:nvPr/>
        </p:nvSpPr>
        <p:spPr>
          <a:xfrm>
            <a:off x="6583680" y="2148840"/>
            <a:ext cx="4572000" cy="2697480"/>
          </a:xfrm>
          <a:prstGeom prst="roundRect">
            <a:avLst>
              <a:gd name="adj" fmla="val 8000"/>
            </a:avLst>
          </a:prstGeom>
          <a:solidFill>
            <a:srgbClr val="0D1F2D"/>
          </a:solidFill>
          <a:ln>
            <a:solidFill>
              <a:srgbClr val="0D1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0" y="2468880"/>
            <a:ext cx="3886200" cy="228600"/>
          </a:xfrm>
          <a:prstGeom prst="rect">
            <a:avLst/>
          </a:prstGeom>
          <a:noFill/>
        </p:spPr>
        <p:txBody>
          <a:bodyPr wrap="square" lIns="27432" rIns="27432" tIns="27432" bIns="27432" anchor="t">
            <a:spAutoFit/>
          </a:bodyPr>
          <a:lstStyle/>
          <a:p>
            <a:pPr algn="l">
              <a:spcAft>
                <a:spcPts val="0"/>
              </a:spcAft>
            </a:pPr>
            <a:r>
              <a:rPr sz="1100" b="1">
                <a:solidFill>
                  <a:srgbClr val="85E0B5"/>
                </a:solidFill>
                <a:latin typeface="Aptos"/>
              </a:rPr>
              <a:t>FILTER EXAMPLE</a:t>
            </a:r>
          </a:p>
        </p:txBody>
      </p:sp>
      <p:sp>
        <p:nvSpPr>
          <p:cNvPr id="18" name="TextBox 17"/>
          <p:cNvSpPr txBox="1"/>
          <p:nvPr/>
        </p:nvSpPr>
        <p:spPr>
          <a:xfrm>
            <a:off x="6903720" y="2926080"/>
            <a:ext cx="3840480" cy="1005840"/>
          </a:xfrm>
          <a:prstGeom prst="rect">
            <a:avLst/>
          </a:prstGeom>
          <a:noFill/>
        </p:spPr>
        <p:txBody>
          <a:bodyPr wrap="square" lIns="27432" rIns="27432" tIns="27432" bIns="27432" anchor="t">
            <a:spAutoFit/>
          </a:bodyPr>
          <a:lstStyle/>
          <a:p>
            <a:pPr algn="l">
              <a:spcAft>
                <a:spcPts val="0"/>
              </a:spcAft>
            </a:pPr>
            <a:r>
              <a:rPr sz="1800" b="1">
                <a:solidFill>
                  <a:srgbClr val="FFFFFF"/>
                </a:solidFill>
                <a:latin typeface="Aptos"/>
              </a:rPr>
              <a:t>Status: moving
Town: Wagha Town
Category: Loader Rickshaw</a:t>
            </a:r>
          </a:p>
        </p:txBody>
      </p:sp>
      <p:sp>
        <p:nvSpPr>
          <p:cNvPr id="19" name="TextBox 18"/>
          <p:cNvSpPr txBox="1"/>
          <p:nvPr/>
        </p:nvSpPr>
        <p:spPr>
          <a:xfrm>
            <a:off x="6903720" y="4297680"/>
            <a:ext cx="3794760" cy="320040"/>
          </a:xfrm>
          <a:prstGeom prst="rect">
            <a:avLst/>
          </a:prstGeom>
          <a:noFill/>
        </p:spPr>
        <p:txBody>
          <a:bodyPr wrap="square" lIns="27432" rIns="27432" tIns="27432" bIns="27432" anchor="t">
            <a:spAutoFit/>
          </a:bodyPr>
          <a:lstStyle/>
          <a:p>
            <a:pPr algn="l">
              <a:spcAft>
                <a:spcPts val="0"/>
              </a:spcAft>
            </a:pPr>
            <a:r>
              <a:rPr sz="1150" b="0">
                <a:solidFill>
                  <a:srgbClr val="D3E3DC"/>
                </a:solidFill>
                <a:latin typeface="Aptos"/>
              </a:rPr>
              <a:t>A focused view for a quick field call.</a:t>
            </a:r>
          </a:p>
        </p:txBody>
      </p:sp>
      <p:sp>
        <p:nvSpPr>
          <p:cNvPr id="20" name="Rectangle 19"/>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22" name="TextBox 21"/>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TAB 3 OF 3</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Reports</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09</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2514600" cy="329184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37360"/>
            <a:ext cx="73152" cy="3291840"/>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1938528"/>
            <a:ext cx="210312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FLEET REGISTRY</a:t>
            </a:r>
          </a:p>
        </p:txBody>
      </p:sp>
      <p:sp>
        <p:nvSpPr>
          <p:cNvPr id="10" name="TextBox 9"/>
          <p:cNvSpPr txBox="1"/>
          <p:nvPr/>
        </p:nvSpPr>
        <p:spPr>
          <a:xfrm>
            <a:off x="969264" y="2395728"/>
            <a:ext cx="2103120" cy="248716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Registry plus live status, town summary, employee coverage and exceptions.</a:t>
            </a:r>
          </a:p>
        </p:txBody>
      </p:sp>
      <p:sp>
        <p:nvSpPr>
          <p:cNvPr id="11" name="Rounded Rectangle 10"/>
          <p:cNvSpPr/>
          <p:nvPr/>
        </p:nvSpPr>
        <p:spPr>
          <a:xfrm>
            <a:off x="3493008" y="1737360"/>
            <a:ext cx="2514600" cy="329184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3008" y="1737360"/>
            <a:ext cx="73152" cy="3291840"/>
          </a:xfrm>
          <a:prstGeom prst="rect">
            <a:avLst/>
          </a:prstGeom>
          <a:solidFill>
            <a:srgbClr val="E2972F"/>
          </a:solidFill>
          <a:ln>
            <a:solidFill>
              <a:srgbClr val="E297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0752" y="1938528"/>
            <a:ext cx="210312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TM PERFORMANCE</a:t>
            </a:r>
          </a:p>
        </p:txBody>
      </p:sp>
      <p:sp>
        <p:nvSpPr>
          <p:cNvPr id="14" name="TextBox 13"/>
          <p:cNvSpPr txBox="1"/>
          <p:nvPr/>
        </p:nvSpPr>
        <p:spPr>
          <a:xfrm>
            <a:off x="3730752" y="2395728"/>
            <a:ext cx="2103120" cy="248716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Deployment and trip counts with date and circle filters.</a:t>
            </a:r>
          </a:p>
        </p:txBody>
      </p:sp>
      <p:sp>
        <p:nvSpPr>
          <p:cNvPr id="15" name="Rounded Rectangle 14"/>
          <p:cNvSpPr/>
          <p:nvPr/>
        </p:nvSpPr>
        <p:spPr>
          <a:xfrm>
            <a:off x="6254496" y="1737360"/>
            <a:ext cx="2514600" cy="329184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4496" y="1737360"/>
            <a:ext cx="73152" cy="3291840"/>
          </a:xfrm>
          <a:prstGeom prst="rect">
            <a:avLst/>
          </a:prstGeom>
          <a:solidFill>
            <a:srgbClr val="0C5D43"/>
          </a:solidFill>
          <a:ln>
            <a:solidFill>
              <a:srgbClr val="0C5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938528"/>
            <a:ext cx="210312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FM PERFORMANCE</a:t>
            </a:r>
          </a:p>
        </p:txBody>
      </p:sp>
      <p:sp>
        <p:nvSpPr>
          <p:cNvPr id="18" name="TextBox 17"/>
          <p:cNvSpPr txBox="1"/>
          <p:nvPr/>
        </p:nvSpPr>
        <p:spPr>
          <a:xfrm>
            <a:off x="6492240" y="2395728"/>
            <a:ext cx="2103120" cy="248716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Fleet Manager performance view using the same snapshot.</a:t>
            </a:r>
          </a:p>
        </p:txBody>
      </p:sp>
      <p:sp>
        <p:nvSpPr>
          <p:cNvPr id="19" name="Rounded Rectangle 18"/>
          <p:cNvSpPr/>
          <p:nvPr/>
        </p:nvSpPr>
        <p:spPr>
          <a:xfrm>
            <a:off x="9015984" y="1737360"/>
            <a:ext cx="2514600" cy="329184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1737360"/>
            <a:ext cx="73152" cy="3291840"/>
          </a:xfrm>
          <a:prstGeom prst="rect">
            <a:avLst/>
          </a:prstGeom>
          <a:solidFill>
            <a:srgbClr val="0D1F2D"/>
          </a:solidFill>
          <a:ln>
            <a:solidFill>
              <a:srgbClr val="0D1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3728" y="1938528"/>
            <a:ext cx="210312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COMBINED</a:t>
            </a:r>
          </a:p>
        </p:txBody>
      </p:sp>
      <p:sp>
        <p:nvSpPr>
          <p:cNvPr id="22" name="TextBox 21"/>
          <p:cNvSpPr txBox="1"/>
          <p:nvPr/>
        </p:nvSpPr>
        <p:spPr>
          <a:xfrm>
            <a:off x="9253728" y="2395728"/>
            <a:ext cx="2103120" cy="248716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One workbook containing overview, registry, TM and FM sheets.</a:t>
            </a:r>
          </a:p>
        </p:txBody>
      </p:sp>
      <p:sp>
        <p:nvSpPr>
          <p:cNvPr id="23" name="Rounded Rectangle 22"/>
          <p:cNvSpPr/>
          <p:nvPr/>
        </p:nvSpPr>
        <p:spPr>
          <a:xfrm>
            <a:off x="731520" y="5440680"/>
            <a:ext cx="10789920" cy="566928"/>
          </a:xfrm>
          <a:prstGeom prst="roundRect">
            <a:avLst>
              <a:gd name="adj" fmla="val 8000"/>
            </a:avLst>
          </a:prstGeom>
          <a:solidFill>
            <a:srgbClr val="E1F3EB"/>
          </a:solidFill>
          <a:ln>
            <a:solidFill>
              <a:srgbClr val="E1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623560"/>
            <a:ext cx="10332720" cy="201168"/>
          </a:xfrm>
          <a:prstGeom prst="rect">
            <a:avLst/>
          </a:prstGeom>
          <a:noFill/>
        </p:spPr>
        <p:txBody>
          <a:bodyPr wrap="square" lIns="27432" rIns="27432" tIns="27432" bIns="27432" anchor="t">
            <a:spAutoFit/>
          </a:bodyPr>
          <a:lstStyle/>
          <a:p>
            <a:pPr algn="ctr">
              <a:spcAft>
                <a:spcPts val="0"/>
              </a:spcAft>
            </a:pPr>
            <a:r>
              <a:rPr sz="1250" b="1">
                <a:solidFill>
                  <a:srgbClr val="0C5D43"/>
                </a:solidFill>
                <a:latin typeface="Aptos"/>
              </a:rPr>
              <a:t>Reports are written to the reports folder and generated in the background. Wait for the completion message before opening the workbook.</a:t>
            </a:r>
          </a:p>
        </p:txBody>
      </p:sp>
      <p:sp>
        <p:nvSpPr>
          <p:cNvPr id="25" name="Rectangle 24"/>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27" name="TextBox 26"/>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solidFill>
              <a:srgbClr val="F8F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046720" cy="228600"/>
          </a:xfrm>
          <a:prstGeom prst="rect">
            <a:avLst/>
          </a:prstGeom>
          <a:noFill/>
        </p:spPr>
        <p:txBody>
          <a:bodyPr wrap="square" lIns="27432" rIns="27432" tIns="27432" bIns="27432" anchor="t">
            <a:spAutoFit/>
          </a:bodyPr>
          <a:lstStyle/>
          <a:p>
            <a:pPr algn="l">
              <a:spcAft>
                <a:spcPts val="0"/>
              </a:spcAft>
            </a:pPr>
            <a:r>
              <a:rPr sz="1000" b="1">
                <a:solidFill>
                  <a:srgbClr val="0C5D43"/>
                </a:solidFill>
                <a:latin typeface="Aptos"/>
              </a:rPr>
              <a:t>GOOD HABITS</a:t>
            </a:r>
          </a:p>
        </p:txBody>
      </p:sp>
      <p:sp>
        <p:nvSpPr>
          <p:cNvPr id="4" name="TextBox 3"/>
          <p:cNvSpPr txBox="1"/>
          <p:nvPr/>
        </p:nvSpPr>
        <p:spPr>
          <a:xfrm>
            <a:off x="640080" y="658368"/>
            <a:ext cx="10789920" cy="566928"/>
          </a:xfrm>
          <a:prstGeom prst="rect">
            <a:avLst/>
          </a:prstGeom>
          <a:noFill/>
        </p:spPr>
        <p:txBody>
          <a:bodyPr wrap="square" lIns="27432" rIns="27432" tIns="27432" bIns="27432" anchor="t">
            <a:spAutoFit/>
          </a:bodyPr>
          <a:lstStyle/>
          <a:p>
            <a:pPr algn="l">
              <a:spcAft>
                <a:spcPts val="0"/>
              </a:spcAft>
            </a:pPr>
            <a:r>
              <a:rPr sz="2800" b="1">
                <a:solidFill>
                  <a:srgbClr val="0D1F2D"/>
                </a:solidFill>
                <a:latin typeface="Aptos Display"/>
              </a:rPr>
              <a:t>Quick checks when something looks wrong</a:t>
            </a:r>
          </a:p>
        </p:txBody>
      </p:sp>
      <p:sp>
        <p:nvSpPr>
          <p:cNvPr id="5" name="TextBox 4"/>
          <p:cNvSpPr txBox="1"/>
          <p:nvPr/>
        </p:nvSpPr>
        <p:spPr>
          <a:xfrm>
            <a:off x="10972800" y="438912"/>
            <a:ext cx="594360" cy="274320"/>
          </a:xfrm>
          <a:prstGeom prst="rect">
            <a:avLst/>
          </a:prstGeom>
          <a:noFill/>
        </p:spPr>
        <p:txBody>
          <a:bodyPr wrap="square" lIns="27432" rIns="27432" tIns="27432" bIns="27432" anchor="t">
            <a:spAutoFit/>
          </a:bodyPr>
          <a:lstStyle/>
          <a:p>
            <a:pPr algn="r">
              <a:spcAft>
                <a:spcPts val="0"/>
              </a:spcAft>
            </a:pPr>
            <a:r>
              <a:rPr sz="1100" b="1">
                <a:solidFill>
                  <a:srgbClr val="5C6F78"/>
                </a:solidFill>
                <a:latin typeface="Aptos"/>
              </a:rPr>
              <a:t>10</a:t>
            </a:r>
          </a:p>
        </p:txBody>
      </p:sp>
      <p:sp>
        <p:nvSpPr>
          <p:cNvPr id="6" name="Rectangle 5"/>
          <p:cNvSpPr/>
          <p:nvPr/>
        </p:nvSpPr>
        <p:spPr>
          <a:xfrm>
            <a:off x="640080" y="1298448"/>
            <a:ext cx="914400" cy="54864"/>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166360" cy="402336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73152" cy="4023360"/>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1892808"/>
            <a:ext cx="475488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GOOD HABITS</a:t>
            </a:r>
          </a:p>
        </p:txBody>
      </p:sp>
      <p:sp>
        <p:nvSpPr>
          <p:cNvPr id="10" name="TextBox 9"/>
          <p:cNvSpPr txBox="1"/>
          <p:nvPr/>
        </p:nvSpPr>
        <p:spPr>
          <a:xfrm>
            <a:off x="969264" y="2350008"/>
            <a:ext cx="4754880" cy="321868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Drop only the day's files beside the executable.
Keep historical exports in an archive folder.
Confirm the snapshot date and source status before acting.
Let report generation finish before closing the app.</a:t>
            </a:r>
          </a:p>
        </p:txBody>
      </p:sp>
      <p:sp>
        <p:nvSpPr>
          <p:cNvPr id="11" name="Rounded Rectangle 10"/>
          <p:cNvSpPr/>
          <p:nvPr/>
        </p:nvSpPr>
        <p:spPr>
          <a:xfrm>
            <a:off x="6291072" y="1691640"/>
            <a:ext cx="5166360" cy="4023360"/>
          </a:xfrm>
          <a:prstGeom prst="roundRect">
            <a:avLst>
              <a:gd name="adj" fmla="val 8000"/>
            </a:avLst>
          </a:prstGeom>
          <a:solidFill>
            <a:srgbClr val="FFFFFF"/>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91072" y="1691640"/>
            <a:ext cx="73152" cy="4023360"/>
          </a:xfrm>
          <a:prstGeom prst="rect">
            <a:avLst/>
          </a:prstGeom>
          <a:solidFill>
            <a:srgbClr val="B93A39"/>
          </a:solidFill>
          <a:ln>
            <a:solidFill>
              <a:srgbClr val="B93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1892808"/>
            <a:ext cx="4754880" cy="310896"/>
          </a:xfrm>
          <a:prstGeom prst="rect">
            <a:avLst/>
          </a:prstGeom>
          <a:noFill/>
        </p:spPr>
        <p:txBody>
          <a:bodyPr wrap="square" lIns="27432" rIns="27432" tIns="27432" bIns="27432" anchor="t">
            <a:spAutoFit/>
          </a:bodyPr>
          <a:lstStyle/>
          <a:p>
            <a:pPr algn="l">
              <a:spcAft>
                <a:spcPts val="0"/>
              </a:spcAft>
            </a:pPr>
            <a:r>
              <a:rPr sz="1500" b="1">
                <a:solidFill>
                  <a:srgbClr val="0D1F2D"/>
                </a:solidFill>
                <a:latin typeface="Aptos"/>
              </a:rPr>
              <a:t>TROUBLESHOOTING</a:t>
            </a:r>
          </a:p>
        </p:txBody>
      </p:sp>
      <p:sp>
        <p:nvSpPr>
          <p:cNvPr id="14" name="TextBox 13"/>
          <p:cNvSpPr txBox="1"/>
          <p:nvPr/>
        </p:nvSpPr>
        <p:spPr>
          <a:xfrm>
            <a:off x="6528816" y="2350008"/>
            <a:ext cx="4754880" cy="3218688"/>
          </a:xfrm>
          <a:prstGeom prst="rect">
            <a:avLst/>
          </a:prstGeom>
          <a:noFill/>
        </p:spPr>
        <p:txBody>
          <a:bodyPr wrap="square" lIns="27432" rIns="27432" tIns="27432" bIns="27432" anchor="t">
            <a:spAutoFit/>
          </a:bodyPr>
          <a:lstStyle/>
          <a:p>
            <a:pPr algn="l">
              <a:spcAft>
                <a:spcPts val="0"/>
              </a:spcAft>
            </a:pPr>
            <a:r>
              <a:rPr sz="1250" b="0">
                <a:solidFill>
                  <a:srgbClr val="5C6F78"/>
                </a:solidFill>
                <a:latin typeface="Aptos"/>
              </a:rPr>
              <a:t>Numbers look stale: check which file was most recently modified.
Vehicle status is blank: confirm vs.xlsx or Vehicle_Status_*.xlsx exists.
Map is empty: confirm the dashboard HTML and JSON are beside the executable.
A report fails: close any workbook that is already open or locked.</a:t>
            </a:r>
          </a:p>
        </p:txBody>
      </p:sp>
      <p:sp>
        <p:nvSpPr>
          <p:cNvPr id="15" name="Rectangle 14"/>
          <p:cNvSpPr/>
          <p:nvPr/>
        </p:nvSpPr>
        <p:spPr>
          <a:xfrm>
            <a:off x="640080" y="6510528"/>
            <a:ext cx="10908792" cy="10972"/>
          </a:xfrm>
          <a:prstGeom prst="rect">
            <a:avLst/>
          </a:prstGeom>
          <a:solidFill>
            <a:srgbClr val="DAE4E0"/>
          </a:solidFill>
          <a:ln>
            <a:solidFill>
              <a:srgbClr val="DAE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565392"/>
            <a:ext cx="6858000" cy="146304"/>
          </a:xfrm>
          <a:prstGeom prst="rect">
            <a:avLst/>
          </a:prstGeom>
          <a:noFill/>
        </p:spPr>
        <p:txBody>
          <a:bodyPr wrap="square" lIns="27432" rIns="27432" tIns="27432" bIns="27432" anchor="t">
            <a:spAutoFit/>
          </a:bodyPr>
          <a:lstStyle/>
          <a:p>
            <a:pPr algn="l">
              <a:spcAft>
                <a:spcPts val="0"/>
              </a:spcAft>
            </a:pPr>
            <a:r>
              <a:rPr sz="850" b="0">
                <a:solidFill>
                  <a:srgbClr val="5C6F78"/>
                </a:solidFill>
                <a:latin typeface="Aptos"/>
              </a:rPr>
              <a:t>LWMC Fleet Dashboard  |  Operator guide</a:t>
            </a:r>
          </a:p>
        </p:txBody>
      </p:sp>
      <p:sp>
        <p:nvSpPr>
          <p:cNvPr id="17" name="TextBox 16"/>
          <p:cNvSpPr txBox="1"/>
          <p:nvPr/>
        </p:nvSpPr>
        <p:spPr>
          <a:xfrm>
            <a:off x="10241280" y="6565392"/>
            <a:ext cx="1307592" cy="146304"/>
          </a:xfrm>
          <a:prstGeom prst="rect">
            <a:avLst/>
          </a:prstGeom>
          <a:noFill/>
        </p:spPr>
        <p:txBody>
          <a:bodyPr wrap="square" lIns="27432" rIns="27432" tIns="27432" bIns="27432" anchor="t">
            <a:spAutoFit/>
          </a:bodyPr>
          <a:lstStyle/>
          <a:p>
            <a:pPr algn="r">
              <a:spcAft>
                <a:spcPts val="0"/>
              </a:spcAft>
            </a:pPr>
            <a:r>
              <a:rPr sz="850" b="0">
                <a:solidFill>
                  <a:srgbClr val="5C6F78"/>
                </a:solidFill>
                <a:latin typeface="Aptos"/>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F2D"/>
          </a:solidFill>
          <a:ln>
            <a:solidFill>
              <a:srgbClr val="0D1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158B5D"/>
          </a:solidFill>
          <a:ln>
            <a:solidFill>
              <a:srgbClr val="1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4114800" cy="228600"/>
          </a:xfrm>
          <a:prstGeom prst="rect">
            <a:avLst/>
          </a:prstGeom>
          <a:noFill/>
        </p:spPr>
        <p:txBody>
          <a:bodyPr wrap="square" lIns="27432" rIns="27432" tIns="27432" bIns="27432" anchor="t">
            <a:spAutoFit/>
          </a:bodyPr>
          <a:lstStyle/>
          <a:p>
            <a:pPr algn="l">
              <a:spcAft>
                <a:spcPts val="0"/>
              </a:spcAft>
            </a:pPr>
            <a:r>
              <a:rPr sz="1100" b="1">
                <a:solidFill>
                  <a:srgbClr val="85E0B5"/>
                </a:solidFill>
                <a:latin typeface="Aptos"/>
              </a:rPr>
              <a:t>THE DAILY LOOP</a:t>
            </a:r>
          </a:p>
        </p:txBody>
      </p:sp>
      <p:sp>
        <p:nvSpPr>
          <p:cNvPr id="5" name="TextBox 4"/>
          <p:cNvSpPr txBox="1"/>
          <p:nvPr/>
        </p:nvSpPr>
        <p:spPr>
          <a:xfrm>
            <a:off x="822960" y="1572768"/>
            <a:ext cx="9601200" cy="914400"/>
          </a:xfrm>
          <a:prstGeom prst="rect">
            <a:avLst/>
          </a:prstGeom>
          <a:noFill/>
        </p:spPr>
        <p:txBody>
          <a:bodyPr wrap="square" lIns="27432" rIns="27432" tIns="27432" bIns="27432" anchor="t">
            <a:spAutoFit/>
          </a:bodyPr>
          <a:lstStyle/>
          <a:p>
            <a:pPr algn="l">
              <a:spcAft>
                <a:spcPts val="0"/>
              </a:spcAft>
            </a:pPr>
            <a:r>
              <a:rPr sz="3100" b="1">
                <a:solidFill>
                  <a:srgbClr val="FFFFFF"/>
                </a:solidFill>
                <a:latin typeface="Aptos Display"/>
              </a:rPr>
              <a:t>Drop the files.
Launch the picture.
Act on the signal.</a:t>
            </a:r>
          </a:p>
        </p:txBody>
      </p:sp>
      <p:sp>
        <p:nvSpPr>
          <p:cNvPr id="6" name="TextBox 5"/>
          <p:cNvSpPr txBox="1"/>
          <p:nvPr/>
        </p:nvSpPr>
        <p:spPr>
          <a:xfrm>
            <a:off x="822960" y="4160520"/>
            <a:ext cx="8046720" cy="457200"/>
          </a:xfrm>
          <a:prstGeom prst="rect">
            <a:avLst/>
          </a:prstGeom>
          <a:noFill/>
        </p:spPr>
        <p:txBody>
          <a:bodyPr wrap="square" lIns="27432" rIns="27432" tIns="27432" bIns="27432" anchor="t">
            <a:spAutoFit/>
          </a:bodyPr>
          <a:lstStyle/>
          <a:p>
            <a:pPr algn="l">
              <a:spcAft>
                <a:spcPts val="0"/>
              </a:spcAft>
            </a:pPr>
            <a:r>
              <a:rPr sz="1700" b="0">
                <a:solidFill>
                  <a:srgbClr val="D3E3DC"/>
                </a:solidFill>
                <a:latin typeface="Aptos"/>
              </a:rPr>
              <a:t>Map, table and reports are three views of the same operational snapshot.</a:t>
            </a:r>
          </a:p>
        </p:txBody>
      </p:sp>
      <p:sp>
        <p:nvSpPr>
          <p:cNvPr id="7" name="Rounded Rectangle 6"/>
          <p:cNvSpPr/>
          <p:nvPr/>
        </p:nvSpPr>
        <p:spPr>
          <a:xfrm>
            <a:off x="822960" y="5257800"/>
            <a:ext cx="1828800" cy="548640"/>
          </a:xfrm>
          <a:prstGeom prst="roundRect">
            <a:avLst>
              <a:gd name="adj" fmla="val 8000"/>
            </a:avLst>
          </a:prstGeom>
          <a:solidFill>
            <a:srgbClr val="0C5D43"/>
          </a:solidFill>
          <a:ln>
            <a:solidFill>
              <a:srgbClr val="0C5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431536"/>
            <a:ext cx="1463040" cy="201168"/>
          </a:xfrm>
          <a:prstGeom prst="rect">
            <a:avLst/>
          </a:prstGeom>
          <a:noFill/>
        </p:spPr>
        <p:txBody>
          <a:bodyPr wrap="square" lIns="27432" rIns="27432" tIns="27432" bIns="27432" anchor="t">
            <a:spAutoFit/>
          </a:bodyPr>
          <a:lstStyle/>
          <a:p>
            <a:pPr algn="l">
              <a:spcAft>
                <a:spcPts val="0"/>
              </a:spcAft>
            </a:pPr>
            <a:r>
              <a:rPr sz="1200" b="1">
                <a:solidFill>
                  <a:srgbClr val="FFFFFF"/>
                </a:solidFill>
                <a:latin typeface="Aptos"/>
              </a:rPr>
              <a:t>Questions?</a:t>
            </a:r>
          </a:p>
        </p:txBody>
      </p:sp>
      <p:sp>
        <p:nvSpPr>
          <p:cNvPr id="9" name="TextBox 8"/>
          <p:cNvSpPr txBox="1"/>
          <p:nvPr/>
        </p:nvSpPr>
        <p:spPr>
          <a:xfrm>
            <a:off x="8321040" y="5870448"/>
            <a:ext cx="3017520" cy="228600"/>
          </a:xfrm>
          <a:prstGeom prst="rect">
            <a:avLst/>
          </a:prstGeom>
          <a:noFill/>
        </p:spPr>
        <p:txBody>
          <a:bodyPr wrap="square" lIns="27432" rIns="27432" tIns="27432" bIns="27432" anchor="t">
            <a:spAutoFit/>
          </a:bodyPr>
          <a:lstStyle/>
          <a:p>
            <a:pPr algn="r">
              <a:spcAft>
                <a:spcPts val="0"/>
              </a:spcAft>
            </a:pPr>
            <a:r>
              <a:rPr sz="1200" b="0">
                <a:solidFill>
                  <a:srgbClr val="A5BCB3"/>
                </a:solidFill>
                <a:latin typeface="Aptos"/>
              </a:rPr>
              <a:t>LWMC Fleet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